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427" r:id="rId3"/>
    <p:sldId id="426" r:id="rId4"/>
    <p:sldId id="428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47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49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AC88A-E242-4F96-A497-7BEFAB8F39B8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C0E2-1327-4054-9D28-3EB0CE19F9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8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8E191E-AC05-4C18-841F-7BE866494851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9544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E65E5-0E86-468F-B3A8-A9DA20CEF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  <a:ln>
            <a:noFill/>
          </a:ln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A34B14-F365-4C4E-BFED-1F4476B43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noFill/>
          <a:ln>
            <a:noFill/>
          </a:ln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81CE3A-F149-49BB-9B79-1DFB1FEB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610-65C4-4C54-A764-80EE1BD9D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5FA52-2B02-47BB-AA1D-16E10E9F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19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85BB5-F07E-4301-9662-856F620BAF9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139419-D433-47C6-BD02-4D5CB428B81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C1A5C4-B9DA-437E-94F2-865EB177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5B968-34BC-4EAB-AED6-BBD0AC1FB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721573-6F4F-462A-97F6-B120C5D1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31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99F9B-4F74-4957-B0E7-F8255329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noFill/>
          <a:ln>
            <a:noFill/>
          </a:ln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60170B-D120-4734-B1B9-B9B041C25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solidFill/>
          </a:ln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8B551E-3F46-4BC9-B561-2A1B577229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DED767-2171-45F6-9F9C-AD82C540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77509A-8877-45EB-AAA1-7D73703DD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90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FACC2-6AFA-4555-848E-8644474D405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3C8016-C41D-418C-9B8A-267081DD9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solidFill/>
          </a:ln>
        </p:spPr>
        <p:txBody>
          <a:bodyPr/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6ECF0F-E98E-4786-8635-DBBB2D879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solidFill/>
          </a:ln>
        </p:spPr>
        <p:txBody>
          <a:bodyPr/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B7D0BF-8A2E-46A4-BF0C-50426A99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6E4C99-FBC8-4E5D-8ABF-44CAD258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E2185E-B3F9-4664-A062-6A62C21CE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35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33D95-8C9D-4480-9BE7-026981A9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/>
          <a:lstStyle/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BC89E4-B987-40FE-8505-5264FD416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solidFill/>
          </a:ln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75EF1E-58A9-4F1D-B44A-ED12BCCC6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solidFill/>
          </a:ln>
        </p:spPr>
        <p:txBody>
          <a:bodyPr/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CB5BEF-3388-44EB-8013-A96E04B93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solidFill/>
          </a:ln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AE4776-C840-4CE3-89D8-F73367D4C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solidFill/>
          </a:ln>
        </p:spPr>
        <p:txBody>
          <a:bodyPr/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104A83-964A-4D33-872B-AF157011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B8D4CD-8004-4F4B-9362-77B4A0C6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5094C-80E1-4D1C-A1BA-740130386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87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69BAF-FD49-449D-BBD9-D41A852CD75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C75AD4-961F-4D4E-AAA3-52B0E3E8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FA48BF-8B08-4304-96DB-4D08C869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1B65C3-A12B-4C50-8139-3834BEAB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612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678037-CE78-4191-A2C1-28E12300EF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F6EAD1-63A5-4830-9FE7-863B59CB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0B8634-26FC-4164-AECF-5A9AD76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13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0C6B3B-E1AB-4CB2-8AC2-55BDDE9B4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noFill/>
          <a:ln>
            <a:noFill/>
          </a:ln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A80BA0-6D9D-4C15-B720-FB4295778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solidFill/>
          </a:ln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D9F745-9281-4810-B6B4-8D3A29A4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solidFill/>
          </a:ln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921B5-2BB0-4C2C-A561-59215220D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3DD874-6E10-451A-929C-BB102020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DBF45F-3CAB-46BA-A3E2-479B44D8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50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C83C10-A1CC-4FC2-A568-5053762C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noFill/>
          <a:ln>
            <a:noFill/>
          </a:ln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9C89CB6-4B27-4A60-9519-D40DC72FE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solid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3B2DA5-4A00-492A-BE46-545AC5D4E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solidFill/>
          </a:ln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C73C03-A15B-4697-B7D1-243759299D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B9CBA3-02EB-4066-A1C2-5FF75AA36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48FA72-8BA0-4E70-9FDF-DD67123DB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18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4E52A8-B645-401B-86F0-BDE97C779437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lstStyle/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1C9F85-12AB-42FE-932E-B51297DE8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/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94C386-F5EB-42B7-A95A-DBABD6B19E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D806A3-374A-4607-862C-5DE12E09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8A4AE-0F60-49AF-B752-B3049D61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83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E13589B-99F6-4283-88CF-0E0DD77D5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noFill/>
          <a:ln>
            <a:noFill/>
          </a:ln>
        </p:spPr>
        <p:txBody>
          <a:bodyPr vert="eaVert"/>
          <a:lstStyle/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8581E6-A7E0-4740-BC67-86A434F43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solidFill/>
          </a:ln>
        </p:spPr>
        <p:txBody>
          <a:bodyPr vert="eaVert"/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1E0CF9-4ECB-4CC5-B832-80E1534B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19C53C-7005-4BFD-A999-44FE9AFF7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EF0A6-B0FD-4C93-BC78-22C8AE21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152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英文 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noFill/>
          <a:ln>
            <a:noFill/>
          </a:ln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zh-CN" dirty="0">
                <a:solidFill/>
                <a:latin typeface="Comic Sans MS"/>
                <a:ea typeface="Microsoft YaHei"/>
                <a:cs typeface="Comic Sans MS"/>
              </a:rPr>
              <a:t>title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ln>
            <a:solidFill/>
          </a:ln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</a:lstStyle>
          <a:p>
            <a:pPr lvl="0"/>
            <a:r>
              <a:rPr lang="en-US" altLang="zh-CN" dirty="0">
                <a:solidFill/>
                <a:latin typeface="Comic Sans MS"/>
                <a:ea typeface="Microsoft YaHei"/>
                <a:cs typeface="Comic Sans MS"/>
              </a:rPr>
              <a:t>one</a:t>
            </a:r>
            <a:endParaRPr lang="zh-CN" altLang="en-US" dirty="0"/>
          </a:p>
          <a:p>
            <a:pPr lvl="1"/>
            <a:r>
              <a:rPr lang="en-US" altLang="zh-CN" dirty="0">
                <a:solidFill/>
                <a:latin typeface="Comic Sans MS"/>
                <a:ea typeface="Microsoft YaHei"/>
                <a:cs typeface="Comic Sans MS"/>
              </a:rPr>
              <a:t>two</a:t>
            </a:r>
            <a:endParaRPr lang="zh-CN" altLang="en-US" dirty="0"/>
          </a:p>
          <a:p>
            <a:pPr lvl="2"/>
            <a:r>
              <a:rPr lang="en-US" altLang="zh-CN" dirty="0">
                <a:solidFill/>
                <a:latin typeface="Comic Sans MS"/>
                <a:ea typeface="Microsoft YaHei"/>
                <a:cs typeface="Comic Sans MS"/>
              </a:rPr>
              <a:t>three</a:t>
            </a:r>
            <a:endParaRPr lang="zh-CN" altLang="en-US" dirty="0"/>
          </a:p>
          <a:p>
            <a:pPr lvl="3"/>
            <a:r>
              <a:rPr lang="en-US" altLang="zh-CN" dirty="0">
                <a:solidFill/>
                <a:latin typeface="Comic Sans MS"/>
                <a:ea typeface="Microsoft YaHei"/>
                <a:cs typeface="Comic Sans MS"/>
              </a:rPr>
              <a:t>four</a:t>
            </a:r>
            <a:endParaRPr lang="zh-CN" alt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>
          <a:ln>
            <a:solidFill/>
          </a:ln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80619F-62CB-4DB5-A8D6-92BFE111E41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695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Relationship Id="rId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DBB41B-F319-404D-AA7C-21128F9DD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4550E5-26A6-487E-B6C8-0A0287044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二级</a:t>
            </a:r>
          </a:p>
          <a:p>
            <a:pPr lvl="2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三级</a:t>
            </a:r>
          </a:p>
          <a:p>
            <a:pPr lvl="3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四级</a:t>
            </a:r>
          </a:p>
          <a:p>
            <a:pPr lvl="4"/>
            <a:r>
              <a:rPr lang="zh-CN" altLang="en-US">
                <a:solidFill/>
                <a:latin typeface="Comic Sans MS"/>
                <a:ea typeface="Microsoft YaHei"/>
                <a:cs typeface="Comic Sans MS"/>
              </a:rP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B785FF-78B8-4F4C-B540-596B0874B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A42D7-FBC7-4E0A-A7BD-BD598DA1792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E9D87A-DEE7-4968-AD0C-8C8FFF9CD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7B6A2-C362-46E8-8576-2A24B66DF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39DBA-2766-4E97-8868-FD05FACDE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431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4417" y="260350"/>
            <a:ext cx="10972800" cy="70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>
                <a:solidFill/>
                <a:latin typeface="Comic Sans MS"/>
                <a:ea typeface="Microsoft YaHei"/>
                <a:cs typeface="Comic Sans MS"/>
              </a:rPr>
              <a:t>单击此处编辑母版标题样式</a:t>
            </a:r>
          </a:p>
        </p:txBody>
      </p:sp>
      <p:sp>
        <p:nvSpPr>
          <p:cNvPr id="1027" name="AutoShape 10"/>
          <p:cNvSpPr>
            <a:spLocks noChangeArrowheads="1"/>
          </p:cNvSpPr>
          <p:nvPr/>
        </p:nvSpPr>
        <p:spPr bwMode="auto">
          <a:xfrm>
            <a:off x="624423" y="981075"/>
            <a:ext cx="10943167" cy="6985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2563EB"/>
          </a:solidFill>
          <a:ln w="9525">
            <a:solidFill>
              <a:srgbClr val="2563EB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8" name="Line 11"/>
          <p:cNvSpPr>
            <a:spLocks noChangeShapeType="1"/>
          </p:cNvSpPr>
          <p:nvPr/>
        </p:nvSpPr>
        <p:spPr bwMode="auto">
          <a:xfrm flipV="1">
            <a:off x="624423" y="6381750"/>
            <a:ext cx="10943167" cy="0"/>
          </a:xfrm>
          <a:prstGeom prst="line">
            <a:avLst/>
          </a:prstGeom>
          <a:noFill/>
          <a:ln w="3175">
            <a:solidFill>
              <a:srgbClr val="2563E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27657" y="6408738"/>
            <a:ext cx="924983" cy="260350"/>
          </a:xfrm>
          <a:prstGeom prst="rect">
            <a:avLst/>
          </a:prstGeom>
          <a:noFill/>
          <a:ln>
            <a:solid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99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45E4186-5A2E-4103-B8A5-4D4F54BBAF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0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4417" y="1125538"/>
            <a:ext cx="10972800" cy="5111750"/>
          </a:xfrm>
          <a:prstGeom prst="rect">
            <a:avLst/>
          </a:prstGeom>
          <a:noFill/>
          <a:ln>
            <a:solid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>
                <a:solidFill/>
                <a:latin typeface="Comic Sans MS"/>
                <a:ea typeface="Microsoft YaHei"/>
                <a:cs typeface="Comic Sans MS"/>
              </a:rPr>
              <a:t>单击此处编辑母版文本样式</a:t>
            </a:r>
          </a:p>
          <a:p>
            <a:pPr lvl="1"/>
            <a:r>
              <a:rPr lang="zh-CN" altLang="en-US" dirty="0">
                <a:solidFill/>
                <a:latin typeface="Comic Sans MS"/>
                <a:ea typeface="Microsoft YaHei"/>
                <a:cs typeface="Comic Sans MS"/>
              </a:rPr>
              <a:t>第二级</a:t>
            </a:r>
          </a:p>
          <a:p>
            <a:pPr lvl="2"/>
            <a:r>
              <a:rPr lang="zh-CN" altLang="en-US" dirty="0">
                <a:solidFill/>
                <a:latin typeface="Comic Sans MS"/>
                <a:ea typeface="Microsoft YaHei"/>
                <a:cs typeface="Comic Sans MS"/>
              </a:rPr>
              <a:t>第三级</a:t>
            </a:r>
          </a:p>
          <a:p>
            <a:pPr lvl="3"/>
            <a:r>
              <a:rPr lang="zh-CN" altLang="en-US" dirty="0">
                <a:solidFill/>
                <a:latin typeface="Comic Sans MS"/>
                <a:ea typeface="Microsoft YaHei"/>
                <a:cs typeface="Comic Sans MS"/>
              </a:rPr>
              <a:t>第四级</a:t>
            </a:r>
          </a:p>
        </p:txBody>
      </p:sp>
    </p:spTree>
    <p:extLst>
      <p:ext uri="{BB962C8B-B14F-4D97-AF65-F5344CB8AC3E}">
        <p14:creationId xmlns:p14="http://schemas.microsoft.com/office/powerpoint/2010/main" val="252156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ea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  <a:ea typeface="华文细黑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  <a:ea typeface="华文细黑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  <a:ea typeface="华文细黑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accent2"/>
          </a:solidFill>
          <a:latin typeface="Arial" charset="0"/>
          <a:ea typeface="华文细黑" pitchFamily="2" charset="-122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SzPct val="75000"/>
        <a:buFont typeface="Wingdings" panose="05000000000000000000" pitchFamily="2" charset="2"/>
        <a:buChar char="Ø"/>
        <a:defRPr sz="2400">
          <a:solidFill>
            <a:schemeClr val="tx1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Font typeface="Wingdings" panose="05000000000000000000" pitchFamily="2" charset="2"/>
        <a:buChar char="ü"/>
        <a:defRPr sz="2000">
          <a:solidFill>
            <a:schemeClr val="tx1"/>
          </a:solidFill>
          <a:latin typeface="+mn-ea"/>
          <a:ea typeface="+mn-ea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har char="–"/>
        <a:defRPr>
          <a:solidFill>
            <a:schemeClr val="tx1"/>
          </a:solidFill>
          <a:latin typeface="+mn-ea"/>
          <a:ea typeface="+mn-ea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har char="»"/>
        <a:defRPr sz="1600">
          <a:solidFill>
            <a:schemeClr val="tx1"/>
          </a:solidFill>
          <a:latin typeface="+mn-ea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402336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1097280"/>
            <a:ext cx="2331720" cy="45262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89720" y="1508760"/>
            <a:ext cx="146304" cy="36118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19488" y="1828800"/>
            <a:ext cx="146304" cy="29718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49256" y="2212848"/>
            <a:ext cx="146304" cy="2212848"/>
          </a:xfrm>
          <a:prstGeom prst="roundRect">
            <a:avLst/>
          </a:prstGeom>
          <a:solidFill>
            <a:srgbClr val="BF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eutral-cover-kicker"/>
          <p:cNvSpPr txBox="1"/>
          <p:nvPr/>
        </p:nvSpPr>
        <p:spPr>
          <a:xfrm>
            <a:off x="1078992" y="1298448"/>
            <a:ext cx="42062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omic Sans MS"/>
                <a:ea typeface="Microsoft YaHei"/>
                <a:cs typeface="Comic Sans MS"/>
              </a:rPr>
              <a:t>GENERAL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8992" y="5166360"/>
            <a:ext cx="6903720" cy="27432"/>
          </a:xfrm>
          <a:prstGeom prst="rect">
            <a:avLst/>
          </a:prstGeom>
          <a:solidFill>
            <a:srgbClr val="BF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5321808"/>
            <a:ext cx="5120640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omic Sans MS"/>
                <a:ea typeface="Microsoft YaHei"/>
                <a:cs typeface="Comic Sans MS"/>
              </a:rPr>
              <a:t>Editable · structured · reusable</a:t>
            </a:r>
          </a:p>
        </p:txBody>
      </p:sp>
    </p:spTree>
    <p:extLst>
      <p:ext uri="{BB962C8B-B14F-4D97-AF65-F5344CB8AC3E}">
        <p14:creationId xmlns:p14="http://schemas.microsoft.com/office/powerpoint/2010/main" val="227013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2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basic_content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3" name="basic-text-card">
            <a:extLst>
              <a:ext uri="{FF2B5EF4-FFF2-40B4-BE49-F238E27FC236}">
                <a16:creationId xmlns:a16="http://schemas.microsoft.com/office/drawing/2014/main" id="{4BDC5E7C-253E-9DA0-8AC5-C93D58754BE9}"/>
              </a:ext>
            </a:extLst>
          </p:cNvPr>
          <p:cNvSpPr/>
          <p:nvPr/>
        </p:nvSpPr>
        <p:spPr bwMode="auto">
          <a:xfrm>
            <a:off x="685800" y="1325880"/>
            <a:ext cx="3090672" cy="466344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[SECTION TITLE]
[Main body placeholder. Add 3-5 concise bullets, one paragraph, or a key message block.]
- [Point one]
- [Point two]
- [Point three]</a:t>
            </a:r>
            <a:endParaRPr kumimoji="0" lang="zh-CN" altLang="en-US" sz="13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5" name="basic-image">
            <a:extLst>
              <a:ext uri="{FF2B5EF4-FFF2-40B4-BE49-F238E27FC236}">
                <a16:creationId xmlns:a16="http://schemas.microsoft.com/office/drawing/2014/main" id="{6E0F0C52-4135-6A02-6FB8-600307D92851}"/>
              </a:ext>
            </a:extLst>
          </p:cNvPr>
          <p:cNvSpPr/>
          <p:nvPr/>
        </p:nvSpPr>
        <p:spPr bwMode="auto">
          <a:xfrm>
            <a:off x="4050791" y="1325880"/>
            <a:ext cx="7452360" cy="3886200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[FIGURE / DIAGRAM]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8" name="basic-image-cross-a">
            <a:extLst>
              <a:ext uri="{FF2B5EF4-FFF2-40B4-BE49-F238E27FC236}">
                <a16:creationId xmlns:a16="http://schemas.microsoft.com/office/drawing/2014/main" id="{C7E81CDD-C939-8BA7-A7F7-954C0EA00ABD}"/>
              </a:ext>
            </a:extLst>
          </p:cNvPr>
          <p:cNvCxnSpPr/>
          <p:nvPr/>
        </p:nvCxnSpPr>
        <p:spPr bwMode="auto">
          <a:xfrm>
            <a:off x="4169663" y="1444752"/>
            <a:ext cx="7214616" cy="3648456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basic-image-cross-b">
            <a:extLst>
              <a:ext uri="{FF2B5EF4-FFF2-40B4-BE49-F238E27FC236}">
                <a16:creationId xmlns:a16="http://schemas.microsoft.com/office/drawing/2014/main" id="{E5865014-C752-6B8A-98E4-2F449A02F812}"/>
              </a:ext>
            </a:extLst>
          </p:cNvPr>
          <p:cNvCxnSpPr/>
          <p:nvPr/>
        </p:nvCxnSpPr>
        <p:spPr bwMode="auto">
          <a:xfrm flipH="1">
            <a:off x="4169663" y="1444752"/>
            <a:ext cx="7214616" cy="3648456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basic-caption">
            <a:extLst>
              <a:ext uri="{FF2B5EF4-FFF2-40B4-BE49-F238E27FC236}">
                <a16:creationId xmlns:a16="http://schemas.microsoft.com/office/drawing/2014/main" id="{113C118D-E2E2-9CAD-E23E-1124D9530B57}"/>
              </a:ext>
            </a:extLst>
          </p:cNvPr>
          <p:cNvSpPr/>
          <p:nvPr/>
        </p:nvSpPr>
        <p:spPr bwMode="auto">
          <a:xfrm>
            <a:off x="4050791" y="5340096"/>
            <a:ext cx="7452360" cy="658368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 / source note / replacement instruction]</a:t>
            </a: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7901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3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motivation_compare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tpl-kicker-label">
            <a:extLst>
              <a:ext uri="{FF2B5EF4-FFF2-40B4-BE49-F238E27FC236}">
                <a16:creationId xmlns:a16="http://schemas.microsoft.com/office/drawing/2014/main" id="{5F6D804C-70CE-9563-8068-7E27BAAC54B2}"/>
              </a:ext>
            </a:extLst>
          </p:cNvPr>
          <p:cNvSpPr/>
          <p:nvPr/>
        </p:nvSpPr>
        <p:spPr bwMode="auto">
          <a:xfrm>
            <a:off x="694944" y="1078992"/>
            <a:ext cx="1965960" cy="347472"/>
          </a:xfrm>
          <a:prstGeom prst="roundRect">
            <a:avLst/>
          </a:prstGeom>
          <a:noFill/>
          <a:ln w="15240">
            <a:solid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1500" b="1">
                <a:solidFill/>
                <a:latin typeface="Comic Sans MS"/>
                <a:ea typeface="Microsoft YaHei"/>
                <a:cs typeface="Comic Sans MS"/>
              </a:rPr>
              <a:t>WHY NOW?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motivation-current">
            <a:extLst>
              <a:ext uri="{FF2B5EF4-FFF2-40B4-BE49-F238E27FC236}">
                <a16:creationId xmlns:a16="http://schemas.microsoft.com/office/drawing/2014/main" id="{8E3A7E22-803A-EFB6-35E3-DEED68E235BF}"/>
              </a:ext>
            </a:extLst>
          </p:cNvPr>
          <p:cNvSpPr/>
          <p:nvPr/>
        </p:nvSpPr>
        <p:spPr bwMode="auto">
          <a:xfrm>
            <a:off x="685800" y="1572768"/>
            <a:ext cx="3749039" cy="3154680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DAE3E9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[CURRENT STATE]
- [Baseline workflow / limitation]
- [Cost, latency, accuracy, or scale pain]
- [Evidence or quote placeholder]</a:t>
            </a:r>
            <a:endParaRPr kumimoji="0" lang="zh-CN" altLang="en-US" sz="13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" name="motivation-target">
            <a:extLst>
              <a:ext uri="{FF2B5EF4-FFF2-40B4-BE49-F238E27FC236}">
                <a16:creationId xmlns:a16="http://schemas.microsoft.com/office/drawing/2014/main" id="{6382F83D-9D40-6638-DDB5-A058268DDF5D}"/>
              </a:ext>
            </a:extLst>
          </p:cNvPr>
          <p:cNvSpPr/>
          <p:nvPr/>
        </p:nvSpPr>
        <p:spPr bwMode="auto">
          <a:xfrm>
            <a:off x="7754112" y="1572768"/>
            <a:ext cx="3749039" cy="3154680"/>
          </a:xfrm>
          <a:prstGeom prst="roundRect">
            <a:avLst/>
          </a:prstGeom>
          <a:solidFill>
            <a:srgbClr val="EFF8F9"/>
          </a:solidFill>
          <a:ln w="10160">
            <a:solidFill>
              <a:srgbClr val="C0DDDE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[TARGET STATE]
- [New capability / opportunity]
- [Expected improvement]
- [Strategic or academic value]</a:t>
            </a:r>
            <a:endParaRPr kumimoji="0" lang="zh-CN" altLang="en-US" sz="13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5" name="motivation-arrow">
            <a:extLst>
              <a:ext uri="{FF2B5EF4-FFF2-40B4-BE49-F238E27FC236}">
                <a16:creationId xmlns:a16="http://schemas.microsoft.com/office/drawing/2014/main" id="{DA2FE4A6-4C25-9662-2A52-E5BA910B24DB}"/>
              </a:ext>
            </a:extLst>
          </p:cNvPr>
          <p:cNvCxnSpPr/>
          <p:nvPr/>
        </p:nvCxnSpPr>
        <p:spPr bwMode="auto">
          <a:xfrm>
            <a:off x="4434839" y="3150108"/>
            <a:ext cx="3319273" cy="1"/>
          </a:xfrm>
          <a:prstGeom prst="line">
            <a:avLst/>
          </a:prstGeom>
          <a:ln w="3175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motivation-gap">
            <a:extLst>
              <a:ext uri="{FF2B5EF4-FFF2-40B4-BE49-F238E27FC236}">
                <a16:creationId xmlns:a16="http://schemas.microsoft.com/office/drawing/2014/main" id="{62E81E7C-67EC-77CA-49B2-4E72BEF6ADD1}"/>
              </a:ext>
            </a:extLst>
          </p:cNvPr>
          <p:cNvSpPr/>
          <p:nvPr/>
        </p:nvSpPr>
        <p:spPr bwMode="auto">
          <a:xfrm>
            <a:off x="4791456" y="2103120"/>
            <a:ext cx="2606040" cy="1691640"/>
          </a:xfrm>
          <a:prstGeom prst="roundRect">
            <a:avLst/>
          </a:prstGeom>
          <a:solidFill>
            <a:srgbClr val="FFF7E4"/>
          </a:solidFill>
          <a:ln w="10160">
            <a:solidFill>
              <a:srgbClr val="E08737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[GAP / MOTIVE]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9" name="motivation-mini-table-r1c1">
            <a:extLst>
              <a:ext uri="{FF2B5EF4-FFF2-40B4-BE49-F238E27FC236}">
                <a16:creationId xmlns:a16="http://schemas.microsoft.com/office/drawing/2014/main" id="{4EB08F60-2900-86B8-55CB-4BFB02DFFBB8}"/>
              </a:ext>
            </a:extLst>
          </p:cNvPr>
          <p:cNvSpPr/>
          <p:nvPr/>
        </p:nvSpPr>
        <p:spPr bwMode="auto">
          <a:xfrm>
            <a:off x="685800" y="5074920"/>
            <a:ext cx="2660904" cy="4114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Dimension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motivation-mini-table-r1c2">
            <a:extLst>
              <a:ext uri="{FF2B5EF4-FFF2-40B4-BE49-F238E27FC236}">
                <a16:creationId xmlns:a16="http://schemas.microsoft.com/office/drawing/2014/main" id="{EB09C29C-DE7A-10CD-282E-9C4887AAFADA}"/>
              </a:ext>
            </a:extLst>
          </p:cNvPr>
          <p:cNvSpPr/>
          <p:nvPr/>
        </p:nvSpPr>
        <p:spPr bwMode="auto">
          <a:xfrm>
            <a:off x="3346704" y="5074920"/>
            <a:ext cx="2660904" cy="4114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Today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1" name="motivation-mini-table-r1c3">
            <a:extLst>
              <a:ext uri="{FF2B5EF4-FFF2-40B4-BE49-F238E27FC236}">
                <a16:creationId xmlns:a16="http://schemas.microsoft.com/office/drawing/2014/main" id="{BC8B16BE-F566-91FD-C3DE-D9CACE8EAC15}"/>
              </a:ext>
            </a:extLst>
          </p:cNvPr>
          <p:cNvSpPr/>
          <p:nvPr/>
        </p:nvSpPr>
        <p:spPr bwMode="auto">
          <a:xfrm>
            <a:off x="6007608" y="5074920"/>
            <a:ext cx="2660904" cy="4114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Gap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motivation-mini-table-r1c4">
            <a:extLst>
              <a:ext uri="{FF2B5EF4-FFF2-40B4-BE49-F238E27FC236}">
                <a16:creationId xmlns:a16="http://schemas.microsoft.com/office/drawing/2014/main" id="{4CE3FC33-6842-4AD0-2B5A-F173965E85F9}"/>
              </a:ext>
            </a:extLst>
          </p:cNvPr>
          <p:cNvSpPr/>
          <p:nvPr/>
        </p:nvSpPr>
        <p:spPr bwMode="auto">
          <a:xfrm>
            <a:off x="8668512" y="5074920"/>
            <a:ext cx="2660904" cy="4114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Template prompt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motivation-mini-table-r2c1">
            <a:extLst>
              <a:ext uri="{FF2B5EF4-FFF2-40B4-BE49-F238E27FC236}">
                <a16:creationId xmlns:a16="http://schemas.microsoft.com/office/drawing/2014/main" id="{DCA1CDEF-A46F-1AA7-0AED-775D58D2A4CF}"/>
              </a:ext>
            </a:extLst>
          </p:cNvPr>
          <p:cNvSpPr/>
          <p:nvPr/>
        </p:nvSpPr>
        <p:spPr bwMode="auto">
          <a:xfrm>
            <a:off x="685800" y="5486400"/>
            <a:ext cx="2660904" cy="512064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[metric]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motivation-mini-table-r2c2">
            <a:extLst>
              <a:ext uri="{FF2B5EF4-FFF2-40B4-BE49-F238E27FC236}">
                <a16:creationId xmlns:a16="http://schemas.microsoft.com/office/drawing/2014/main" id="{8E00DF43-336F-26B8-8C00-A6F77E46F152}"/>
              </a:ext>
            </a:extLst>
          </p:cNvPr>
          <p:cNvSpPr/>
          <p:nvPr/>
        </p:nvSpPr>
        <p:spPr bwMode="auto">
          <a:xfrm>
            <a:off x="3346704" y="5486400"/>
            <a:ext cx="2660904" cy="512064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[baseline]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motivation-mini-table-r2c3">
            <a:extLst>
              <a:ext uri="{FF2B5EF4-FFF2-40B4-BE49-F238E27FC236}">
                <a16:creationId xmlns:a16="http://schemas.microsoft.com/office/drawing/2014/main" id="{DFE99FCE-558F-1E71-35F6-878B21129385}"/>
              </a:ext>
            </a:extLst>
          </p:cNvPr>
          <p:cNvSpPr/>
          <p:nvPr/>
        </p:nvSpPr>
        <p:spPr bwMode="auto">
          <a:xfrm>
            <a:off x="6007608" y="5486400"/>
            <a:ext cx="2660904" cy="512064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[delta]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motivation-mini-table-r2c4">
            <a:extLst>
              <a:ext uri="{FF2B5EF4-FFF2-40B4-BE49-F238E27FC236}">
                <a16:creationId xmlns:a16="http://schemas.microsoft.com/office/drawing/2014/main" id="{6EF69A25-AD3E-250F-9A87-A082432130FF}"/>
              </a:ext>
            </a:extLst>
          </p:cNvPr>
          <p:cNvSpPr/>
          <p:nvPr/>
        </p:nvSpPr>
        <p:spPr bwMode="auto">
          <a:xfrm>
            <a:off x="8668512" y="5486400"/>
            <a:ext cx="2660904" cy="512064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[one-line claim]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486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4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challenge_map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challenge-card">
            <a:extLst>
              <a:ext uri="{FF2B5EF4-FFF2-40B4-BE49-F238E27FC236}">
                <a16:creationId xmlns:a16="http://schemas.microsoft.com/office/drawing/2014/main" id="{5DB83977-2AA5-A055-AE54-43E847345BA4}"/>
              </a:ext>
            </a:extLst>
          </p:cNvPr>
          <p:cNvSpPr/>
          <p:nvPr/>
        </p:nvSpPr>
        <p:spPr bwMode="auto">
          <a:xfrm>
            <a:off x="685800" y="1371600"/>
            <a:ext cx="4114800" cy="1536192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Challenge A
[data / scale / noise]</a:t>
            </a:r>
            <a:endParaRPr kumimoji="0" lang="zh-CN" altLang="en-US" sz="12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3" name="challenge-link">
            <a:extLst>
              <a:ext uri="{FF2B5EF4-FFF2-40B4-BE49-F238E27FC236}">
                <a16:creationId xmlns:a16="http://schemas.microsoft.com/office/drawing/2014/main" id="{FD4DEE99-84FB-5F9E-E0C8-0E843B8DC232}"/>
              </a:ext>
            </a:extLst>
          </p:cNvPr>
          <p:cNvCxnSpPr/>
          <p:nvPr/>
        </p:nvCxnSpPr>
        <p:spPr bwMode="auto">
          <a:xfrm>
            <a:off x="2476500" y="2146714"/>
            <a:ext cx="3352800" cy="1245429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challenge-card">
            <a:extLst>
              <a:ext uri="{FF2B5EF4-FFF2-40B4-BE49-F238E27FC236}">
                <a16:creationId xmlns:a16="http://schemas.microsoft.com/office/drawing/2014/main" id="{A26F7365-D3CB-2163-4487-1C2DE4E86C8B}"/>
              </a:ext>
            </a:extLst>
          </p:cNvPr>
          <p:cNvSpPr/>
          <p:nvPr/>
        </p:nvSpPr>
        <p:spPr bwMode="auto">
          <a:xfrm>
            <a:off x="7388352" y="1371600"/>
            <a:ext cx="4114800" cy="1536192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Challenge B
[model / reasoning / alignment]</a:t>
            </a:r>
            <a:endParaRPr kumimoji="0" lang="zh-CN" altLang="en-US" sz="12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5" name="challenge-link">
            <a:extLst>
              <a:ext uri="{FF2B5EF4-FFF2-40B4-BE49-F238E27FC236}">
                <a16:creationId xmlns:a16="http://schemas.microsoft.com/office/drawing/2014/main" id="{8A6DAF1E-4F09-0216-E24D-0CDF43D26406}"/>
              </a:ext>
            </a:extLst>
          </p:cNvPr>
          <p:cNvCxnSpPr/>
          <p:nvPr/>
        </p:nvCxnSpPr>
        <p:spPr bwMode="auto">
          <a:xfrm flipH="1">
            <a:off x="5829300" y="2146714"/>
            <a:ext cx="3251200" cy="1245429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challenge-card">
            <a:extLst>
              <a:ext uri="{FF2B5EF4-FFF2-40B4-BE49-F238E27FC236}">
                <a16:creationId xmlns:a16="http://schemas.microsoft.com/office/drawing/2014/main" id="{8984CA9D-BD51-A6D0-515E-3049D325A7F9}"/>
              </a:ext>
            </a:extLst>
          </p:cNvPr>
          <p:cNvSpPr/>
          <p:nvPr/>
        </p:nvSpPr>
        <p:spPr bwMode="auto">
          <a:xfrm>
            <a:off x="685800" y="4407408"/>
            <a:ext cx="4114800" cy="1536192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Challenge C
[system / deployment / cost]</a:t>
            </a:r>
            <a:endParaRPr kumimoji="0" lang="zh-CN" altLang="en-US" sz="12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9" name="challenge-link">
            <a:extLst>
              <a:ext uri="{FF2B5EF4-FFF2-40B4-BE49-F238E27FC236}">
                <a16:creationId xmlns:a16="http://schemas.microsoft.com/office/drawing/2014/main" id="{22707552-CFB0-02D8-CDF5-FB96CC32E8D0}"/>
              </a:ext>
            </a:extLst>
          </p:cNvPr>
          <p:cNvCxnSpPr/>
          <p:nvPr/>
        </p:nvCxnSpPr>
        <p:spPr bwMode="auto">
          <a:xfrm flipV="1">
            <a:off x="2476500" y="3392144"/>
            <a:ext cx="3352800" cy="1974461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challenge-card">
            <a:extLst>
              <a:ext uri="{FF2B5EF4-FFF2-40B4-BE49-F238E27FC236}">
                <a16:creationId xmlns:a16="http://schemas.microsoft.com/office/drawing/2014/main" id="{FBB0BB39-F521-172D-DB88-4E999D48C04B}"/>
              </a:ext>
            </a:extLst>
          </p:cNvPr>
          <p:cNvSpPr/>
          <p:nvPr/>
        </p:nvSpPr>
        <p:spPr bwMode="auto">
          <a:xfrm>
            <a:off x="7388352" y="4407408"/>
            <a:ext cx="4114800" cy="1536192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Challenge D
[evaluation / risk / robustness]</a:t>
            </a:r>
            <a:endParaRPr kumimoji="0" lang="zh-CN" altLang="en-US" sz="12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1" name="challenge-link">
            <a:extLst>
              <a:ext uri="{FF2B5EF4-FFF2-40B4-BE49-F238E27FC236}">
                <a16:creationId xmlns:a16="http://schemas.microsoft.com/office/drawing/2014/main" id="{370FB168-381B-2F44-3B71-1692F3BDE7D7}"/>
              </a:ext>
            </a:extLst>
          </p:cNvPr>
          <p:cNvCxnSpPr/>
          <p:nvPr/>
        </p:nvCxnSpPr>
        <p:spPr bwMode="auto">
          <a:xfrm flipH="1" flipV="1">
            <a:off x="5829300" y="3392144"/>
            <a:ext cx="3251200" cy="1974461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challenge-core">
            <a:extLst>
              <a:ext uri="{FF2B5EF4-FFF2-40B4-BE49-F238E27FC236}">
                <a16:creationId xmlns:a16="http://schemas.microsoft.com/office/drawing/2014/main" id="{C9792053-6B64-B9A2-7737-D3CB79BBE5FB}"/>
              </a:ext>
            </a:extLst>
          </p:cNvPr>
          <p:cNvSpPr/>
          <p:nvPr/>
        </p:nvSpPr>
        <p:spPr bwMode="auto">
          <a:xfrm>
            <a:off x="4361688" y="2679192"/>
            <a:ext cx="3465576" cy="1481328"/>
          </a:xfrm>
          <a:prstGeom prst="roundRect">
            <a:avLst/>
          </a:prstGeom>
          <a:solidFill>
            <a:srgbClr val="0F3A56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[CORE CHALLENGE]
[one sentence]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challenge-note">
            <a:extLst>
              <a:ext uri="{FF2B5EF4-FFF2-40B4-BE49-F238E27FC236}">
                <a16:creationId xmlns:a16="http://schemas.microsoft.com/office/drawing/2014/main" id="{1A620118-8581-71EE-9F2E-9265D11EACC8}"/>
              </a:ext>
            </a:extLst>
          </p:cNvPr>
          <p:cNvSpPr txBox="1"/>
          <p:nvPr/>
        </p:nvSpPr>
        <p:spPr>
          <a:xfrm>
            <a:off x="3767328" y="4270248"/>
            <a:ext cx="4654296" cy="320040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ctr"/>
            <a:r>
              <a:rPr lang="en-US" altLang="zh-CN" sz="1100">
                <a:solidFill>
                  <a:srgbClr val="5D7182"/>
                </a:solidFill>
                <a:latin typeface="Comic Sans MS" panose="020B0604020202020204" pitchFamily="34" charset="0"/>
                <a:ea typeface="Microsoft YaHei" panose="020B0503020204020204" pitchFamily="34" charset="-122"/>
                <a:cs typeface="Comic Sans MS"/>
              </a:rPr>
              <a:t>[Use this page to show how separate bottlenecks converge into one research/project problem.]</a:t>
            </a:r>
            <a:endParaRPr lang="zh-CN" altLang="en-US" sz="11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818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5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method_pipeline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pipeline-input">
            <a:extLst>
              <a:ext uri="{FF2B5EF4-FFF2-40B4-BE49-F238E27FC236}">
                <a16:creationId xmlns:a16="http://schemas.microsoft.com/office/drawing/2014/main" id="{5BF7AA6B-A8DC-B00E-FC72-4E76031B1760}"/>
              </a:ext>
            </a:extLst>
          </p:cNvPr>
          <p:cNvSpPr/>
          <p:nvPr/>
        </p:nvSpPr>
        <p:spPr bwMode="auto">
          <a:xfrm>
            <a:off x="667512" y="2331720"/>
            <a:ext cx="1664208" cy="1389888"/>
          </a:xfrm>
          <a:prstGeom prst="rect">
            <a:avLst/>
          </a:prstGeom>
          <a:solidFill>
            <a:srgbClr val="FAFCFD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[INPUTS]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3" name="pipeline-input-cross-a">
            <a:extLst>
              <a:ext uri="{FF2B5EF4-FFF2-40B4-BE49-F238E27FC236}">
                <a16:creationId xmlns:a16="http://schemas.microsoft.com/office/drawing/2014/main" id="{AE203982-76CD-84CF-F3BD-2B48621F6A71}"/>
              </a:ext>
            </a:extLst>
          </p:cNvPr>
          <p:cNvCxnSpPr/>
          <p:nvPr/>
        </p:nvCxnSpPr>
        <p:spPr bwMode="auto">
          <a:xfrm>
            <a:off x="786384" y="2450592"/>
            <a:ext cx="1426464" cy="1152144"/>
          </a:xfrm>
          <a:prstGeom prst="line">
            <a:avLst/>
          </a:prstGeom>
          <a:ln w="7620">
            <a:solidFill>
              <a:srgbClr val="CDD7E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pipeline-input-cross-b">
            <a:extLst>
              <a:ext uri="{FF2B5EF4-FFF2-40B4-BE49-F238E27FC236}">
                <a16:creationId xmlns:a16="http://schemas.microsoft.com/office/drawing/2014/main" id="{5E421D81-F591-9CA9-48AB-3601B2170017}"/>
              </a:ext>
            </a:extLst>
          </p:cNvPr>
          <p:cNvCxnSpPr/>
          <p:nvPr/>
        </p:nvCxnSpPr>
        <p:spPr bwMode="auto">
          <a:xfrm flipH="1">
            <a:off x="786384" y="2450592"/>
            <a:ext cx="1426464" cy="1152144"/>
          </a:xfrm>
          <a:prstGeom prst="line">
            <a:avLst/>
          </a:prstGeom>
          <a:ln w="7620">
            <a:solidFill>
              <a:srgbClr val="CDD7E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pipeline-step-1">
            <a:extLst>
              <a:ext uri="{FF2B5EF4-FFF2-40B4-BE49-F238E27FC236}">
                <a16:creationId xmlns:a16="http://schemas.microsoft.com/office/drawing/2014/main" id="{3F3B3797-F5C6-716D-5113-5AC95F647810}"/>
              </a:ext>
            </a:extLst>
          </p:cNvPr>
          <p:cNvSpPr/>
          <p:nvPr/>
        </p:nvSpPr>
        <p:spPr bwMode="auto">
          <a:xfrm>
            <a:off x="2606040" y="1536192"/>
            <a:ext cx="1216152" cy="290779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1. Parse
[data/text]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8" name="pipeline-arrow-1">
            <a:extLst>
              <a:ext uri="{FF2B5EF4-FFF2-40B4-BE49-F238E27FC236}">
                <a16:creationId xmlns:a16="http://schemas.microsoft.com/office/drawing/2014/main" id="{356DECF8-B0D1-CDFF-0F83-C78737BF9576}"/>
              </a:ext>
            </a:extLst>
          </p:cNvPr>
          <p:cNvCxnSpPr/>
          <p:nvPr/>
        </p:nvCxnSpPr>
        <p:spPr bwMode="auto">
          <a:xfrm>
            <a:off x="3858768" y="2980944"/>
            <a:ext cx="146304" cy="18288"/>
          </a:xfrm>
          <a:prstGeom prst="line">
            <a:avLst/>
          </a:prstGeom>
          <a:ln w="2286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pipeline-step-2">
            <a:extLst>
              <a:ext uri="{FF2B5EF4-FFF2-40B4-BE49-F238E27FC236}">
                <a16:creationId xmlns:a16="http://schemas.microsoft.com/office/drawing/2014/main" id="{2F109085-62BA-E6B8-2856-D754E4278E5F}"/>
              </a:ext>
            </a:extLst>
          </p:cNvPr>
          <p:cNvSpPr/>
          <p:nvPr/>
        </p:nvSpPr>
        <p:spPr bwMode="auto">
          <a:xfrm>
            <a:off x="4001414" y="1536192"/>
            <a:ext cx="1216152" cy="290779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2. Encode
[features]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0" name="pipeline-arrow-2">
            <a:extLst>
              <a:ext uri="{FF2B5EF4-FFF2-40B4-BE49-F238E27FC236}">
                <a16:creationId xmlns:a16="http://schemas.microsoft.com/office/drawing/2014/main" id="{680F2124-D3EA-5909-4184-25D7218163C3}"/>
              </a:ext>
            </a:extLst>
          </p:cNvPr>
          <p:cNvCxnSpPr/>
          <p:nvPr/>
        </p:nvCxnSpPr>
        <p:spPr bwMode="auto">
          <a:xfrm>
            <a:off x="5254142" y="2980944"/>
            <a:ext cx="146304" cy="18288"/>
          </a:xfrm>
          <a:prstGeom prst="line">
            <a:avLst/>
          </a:prstGeom>
          <a:ln w="2286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pipeline-step-3">
            <a:extLst>
              <a:ext uri="{FF2B5EF4-FFF2-40B4-BE49-F238E27FC236}">
                <a16:creationId xmlns:a16="http://schemas.microsoft.com/office/drawing/2014/main" id="{62BC043D-352F-8725-6E8E-F1610D284806}"/>
              </a:ext>
            </a:extLst>
          </p:cNvPr>
          <p:cNvSpPr/>
          <p:nvPr/>
        </p:nvSpPr>
        <p:spPr bwMode="auto">
          <a:xfrm>
            <a:off x="5396788" y="1536192"/>
            <a:ext cx="1216152" cy="290779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3. Reason
[Graph/LLM]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2" name="pipeline-arrow-3">
            <a:extLst>
              <a:ext uri="{FF2B5EF4-FFF2-40B4-BE49-F238E27FC236}">
                <a16:creationId xmlns:a16="http://schemas.microsoft.com/office/drawing/2014/main" id="{E7D852C3-F9ED-8407-C927-1C22ABCDF479}"/>
              </a:ext>
            </a:extLst>
          </p:cNvPr>
          <p:cNvCxnSpPr/>
          <p:nvPr/>
        </p:nvCxnSpPr>
        <p:spPr bwMode="auto">
          <a:xfrm>
            <a:off x="6649516" y="2980944"/>
            <a:ext cx="146304" cy="18288"/>
          </a:xfrm>
          <a:prstGeom prst="line">
            <a:avLst/>
          </a:prstGeom>
          <a:ln w="2286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pipeline-step-4">
            <a:extLst>
              <a:ext uri="{FF2B5EF4-FFF2-40B4-BE49-F238E27FC236}">
                <a16:creationId xmlns:a16="http://schemas.microsoft.com/office/drawing/2014/main" id="{D13C5548-FBCF-B079-2746-4AC160BD1A73}"/>
              </a:ext>
            </a:extLst>
          </p:cNvPr>
          <p:cNvSpPr/>
          <p:nvPr/>
        </p:nvSpPr>
        <p:spPr bwMode="auto">
          <a:xfrm>
            <a:off x="6792163" y="1536192"/>
            <a:ext cx="1216152" cy="290779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4. Generate
[output]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4" name="pipeline-arrow-4">
            <a:extLst>
              <a:ext uri="{FF2B5EF4-FFF2-40B4-BE49-F238E27FC236}">
                <a16:creationId xmlns:a16="http://schemas.microsoft.com/office/drawing/2014/main" id="{A7AB7036-AB80-79AC-C86E-C9C6C2CB8195}"/>
              </a:ext>
            </a:extLst>
          </p:cNvPr>
          <p:cNvCxnSpPr/>
          <p:nvPr/>
        </p:nvCxnSpPr>
        <p:spPr bwMode="auto">
          <a:xfrm>
            <a:off x="8044891" y="2980944"/>
            <a:ext cx="146304" cy="18288"/>
          </a:xfrm>
          <a:prstGeom prst="line">
            <a:avLst/>
          </a:prstGeom>
          <a:ln w="2286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pipeline-step-5">
            <a:extLst>
              <a:ext uri="{FF2B5EF4-FFF2-40B4-BE49-F238E27FC236}">
                <a16:creationId xmlns:a16="http://schemas.microsoft.com/office/drawing/2014/main" id="{186CCFD6-1F79-EFEE-6E0C-B65D6AB0FE58}"/>
              </a:ext>
            </a:extLst>
          </p:cNvPr>
          <p:cNvSpPr/>
          <p:nvPr/>
        </p:nvSpPr>
        <p:spPr bwMode="auto">
          <a:xfrm>
            <a:off x="8187537" y="1536192"/>
            <a:ext cx="1216152" cy="290779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5. Verify
[metrics]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pipeline-output">
            <a:extLst>
              <a:ext uri="{FF2B5EF4-FFF2-40B4-BE49-F238E27FC236}">
                <a16:creationId xmlns:a16="http://schemas.microsoft.com/office/drawing/2014/main" id="{8E9151F8-5552-B2D9-E390-353F5BCD702A}"/>
              </a:ext>
            </a:extLst>
          </p:cNvPr>
          <p:cNvSpPr/>
          <p:nvPr/>
        </p:nvSpPr>
        <p:spPr bwMode="auto">
          <a:xfrm>
            <a:off x="9857232" y="2331720"/>
            <a:ext cx="1664208" cy="1389888"/>
          </a:xfrm>
          <a:prstGeom prst="rect">
            <a:avLst/>
          </a:prstGeom>
          <a:solidFill>
            <a:srgbClr val="FAFCFD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[OUTPUT]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7" name="pipeline-output-cross-a">
            <a:extLst>
              <a:ext uri="{FF2B5EF4-FFF2-40B4-BE49-F238E27FC236}">
                <a16:creationId xmlns:a16="http://schemas.microsoft.com/office/drawing/2014/main" id="{48FA4328-8300-8105-0547-24BFB09E02BA}"/>
              </a:ext>
            </a:extLst>
          </p:cNvPr>
          <p:cNvCxnSpPr/>
          <p:nvPr/>
        </p:nvCxnSpPr>
        <p:spPr bwMode="auto">
          <a:xfrm>
            <a:off x="9976104" y="2450592"/>
            <a:ext cx="1426464" cy="1152144"/>
          </a:xfrm>
          <a:prstGeom prst="line">
            <a:avLst/>
          </a:prstGeom>
          <a:ln w="7620">
            <a:solidFill>
              <a:srgbClr val="CDD7E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pipeline-output-cross-b">
            <a:extLst>
              <a:ext uri="{FF2B5EF4-FFF2-40B4-BE49-F238E27FC236}">
                <a16:creationId xmlns:a16="http://schemas.microsoft.com/office/drawing/2014/main" id="{C1A3AF3C-FBD9-9FD1-30CE-F6D3D6F74244}"/>
              </a:ext>
            </a:extLst>
          </p:cNvPr>
          <p:cNvCxnSpPr/>
          <p:nvPr/>
        </p:nvCxnSpPr>
        <p:spPr bwMode="auto">
          <a:xfrm flipH="1">
            <a:off x="9976104" y="2450592"/>
            <a:ext cx="1426464" cy="1152144"/>
          </a:xfrm>
          <a:prstGeom prst="line">
            <a:avLst/>
          </a:prstGeom>
          <a:ln w="7620">
            <a:solidFill>
              <a:srgbClr val="CDD7E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pipeline-grid-r1c1">
            <a:extLst>
              <a:ext uri="{FF2B5EF4-FFF2-40B4-BE49-F238E27FC236}">
                <a16:creationId xmlns:a16="http://schemas.microsoft.com/office/drawing/2014/main" id="{D2858433-E457-74AF-6A1B-190323C51E91}"/>
              </a:ext>
            </a:extLst>
          </p:cNvPr>
          <p:cNvSpPr/>
          <p:nvPr/>
        </p:nvSpPr>
        <p:spPr bwMode="auto">
          <a:xfrm>
            <a:off x="2606040" y="4736592"/>
            <a:ext cx="1395374" cy="50292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Module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pipeline-grid-r1c2">
            <a:extLst>
              <a:ext uri="{FF2B5EF4-FFF2-40B4-BE49-F238E27FC236}">
                <a16:creationId xmlns:a16="http://schemas.microsoft.com/office/drawing/2014/main" id="{2C509231-CA95-3B20-9855-B418FADE8B43}"/>
              </a:ext>
            </a:extLst>
          </p:cNvPr>
          <p:cNvSpPr/>
          <p:nvPr/>
        </p:nvSpPr>
        <p:spPr bwMode="auto">
          <a:xfrm>
            <a:off x="4001414" y="4736592"/>
            <a:ext cx="1395374" cy="50292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Input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1" name="pipeline-grid-r1c3">
            <a:extLst>
              <a:ext uri="{FF2B5EF4-FFF2-40B4-BE49-F238E27FC236}">
                <a16:creationId xmlns:a16="http://schemas.microsoft.com/office/drawing/2014/main" id="{D3CD0E81-2359-5AF8-5BEE-102A90F16FD4}"/>
              </a:ext>
            </a:extLst>
          </p:cNvPr>
          <p:cNvSpPr/>
          <p:nvPr/>
        </p:nvSpPr>
        <p:spPr bwMode="auto">
          <a:xfrm>
            <a:off x="5396788" y="4736592"/>
            <a:ext cx="1395374" cy="50292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Operation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2" name="pipeline-grid-r1c4">
            <a:extLst>
              <a:ext uri="{FF2B5EF4-FFF2-40B4-BE49-F238E27FC236}">
                <a16:creationId xmlns:a16="http://schemas.microsoft.com/office/drawing/2014/main" id="{13E6A436-A81A-8CAD-C15B-E942A189CCA7}"/>
              </a:ext>
            </a:extLst>
          </p:cNvPr>
          <p:cNvSpPr/>
          <p:nvPr/>
        </p:nvSpPr>
        <p:spPr bwMode="auto">
          <a:xfrm>
            <a:off x="6792163" y="4736592"/>
            <a:ext cx="1395374" cy="50292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Output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3" name="pipeline-grid-r1c5">
            <a:extLst>
              <a:ext uri="{FF2B5EF4-FFF2-40B4-BE49-F238E27FC236}">
                <a16:creationId xmlns:a16="http://schemas.microsoft.com/office/drawing/2014/main" id="{ABDB9AFD-DA77-627E-79F9-80BC0E95588B}"/>
              </a:ext>
            </a:extLst>
          </p:cNvPr>
          <p:cNvSpPr/>
          <p:nvPr/>
        </p:nvSpPr>
        <p:spPr bwMode="auto">
          <a:xfrm>
            <a:off x="8187537" y="4736592"/>
            <a:ext cx="1395374" cy="50292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Check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pipeline-grid-r2c1">
            <a:extLst>
              <a:ext uri="{FF2B5EF4-FFF2-40B4-BE49-F238E27FC236}">
                <a16:creationId xmlns:a16="http://schemas.microsoft.com/office/drawing/2014/main" id="{B0A44B71-2397-025C-53A7-A800E47E9174}"/>
              </a:ext>
            </a:extLst>
          </p:cNvPr>
          <p:cNvSpPr/>
          <p:nvPr/>
        </p:nvSpPr>
        <p:spPr bwMode="auto">
          <a:xfrm>
            <a:off x="2606040" y="5239512"/>
            <a:ext cx="1395374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[M1]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5" name="pipeline-grid-r2c2">
            <a:extLst>
              <a:ext uri="{FF2B5EF4-FFF2-40B4-BE49-F238E27FC236}">
                <a16:creationId xmlns:a16="http://schemas.microsoft.com/office/drawing/2014/main" id="{0ED0212B-E264-7991-0B4E-6DD69033A888}"/>
              </a:ext>
            </a:extLst>
          </p:cNvPr>
          <p:cNvSpPr/>
          <p:nvPr/>
        </p:nvSpPr>
        <p:spPr bwMode="auto">
          <a:xfrm>
            <a:off x="4001414" y="5239512"/>
            <a:ext cx="1395374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6" name="pipeline-grid-r2c3">
            <a:extLst>
              <a:ext uri="{FF2B5EF4-FFF2-40B4-BE49-F238E27FC236}">
                <a16:creationId xmlns:a16="http://schemas.microsoft.com/office/drawing/2014/main" id="{6F854A5C-6206-FADE-9F2D-9DB4A04FAB8B}"/>
              </a:ext>
            </a:extLst>
          </p:cNvPr>
          <p:cNvSpPr/>
          <p:nvPr/>
        </p:nvSpPr>
        <p:spPr bwMode="auto">
          <a:xfrm>
            <a:off x="5396788" y="5239512"/>
            <a:ext cx="1395374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[f(x)]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7" name="pipeline-grid-r2c4">
            <a:extLst>
              <a:ext uri="{FF2B5EF4-FFF2-40B4-BE49-F238E27FC236}">
                <a16:creationId xmlns:a16="http://schemas.microsoft.com/office/drawing/2014/main" id="{5D35A8A4-AAF0-BC8E-0C01-5DA5AB6E1F89}"/>
              </a:ext>
            </a:extLst>
          </p:cNvPr>
          <p:cNvSpPr/>
          <p:nvPr/>
        </p:nvSpPr>
        <p:spPr bwMode="auto">
          <a:xfrm>
            <a:off x="6792163" y="5239512"/>
            <a:ext cx="1395374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[y]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8" name="pipeline-grid-r2c5">
            <a:extLst>
              <a:ext uri="{FF2B5EF4-FFF2-40B4-BE49-F238E27FC236}">
                <a16:creationId xmlns:a16="http://schemas.microsoft.com/office/drawing/2014/main" id="{3B2FF334-4A59-97C2-2805-B9D9816BA191}"/>
              </a:ext>
            </a:extLst>
          </p:cNvPr>
          <p:cNvSpPr/>
          <p:nvPr/>
        </p:nvSpPr>
        <p:spPr bwMode="auto">
          <a:xfrm>
            <a:off x="8187537" y="5239512"/>
            <a:ext cx="1395374" cy="68580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[metric]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78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6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method_loop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loop-center">
            <a:extLst>
              <a:ext uri="{FF2B5EF4-FFF2-40B4-BE49-F238E27FC236}">
                <a16:creationId xmlns:a16="http://schemas.microsoft.com/office/drawing/2014/main" id="{49CC9BD0-CB4A-CF6E-7203-BC522EDE71CE}"/>
              </a:ext>
            </a:extLst>
          </p:cNvPr>
          <p:cNvSpPr/>
          <p:nvPr/>
        </p:nvSpPr>
        <p:spPr bwMode="auto">
          <a:xfrm>
            <a:off x="4443984" y="2551176"/>
            <a:ext cx="3300984" cy="1389888"/>
          </a:xfrm>
          <a:prstGeom prst="roundRect">
            <a:avLst/>
          </a:prstGeom>
          <a:solidFill>
            <a:srgbClr val="0F3A56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[OBJECTIVE]
agent / system / method goal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loop-node-Plan">
            <a:extLst>
              <a:ext uri="{FF2B5EF4-FFF2-40B4-BE49-F238E27FC236}">
                <a16:creationId xmlns:a16="http://schemas.microsoft.com/office/drawing/2014/main" id="{8839C36F-9501-4BCB-48C4-F47C2A438F65}"/>
              </a:ext>
            </a:extLst>
          </p:cNvPr>
          <p:cNvSpPr/>
          <p:nvPr/>
        </p:nvSpPr>
        <p:spPr bwMode="auto">
          <a:xfrm>
            <a:off x="4910328" y="1307592"/>
            <a:ext cx="2368296" cy="91440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Plan
[placeholder]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" name="loop-node-Act">
            <a:extLst>
              <a:ext uri="{FF2B5EF4-FFF2-40B4-BE49-F238E27FC236}">
                <a16:creationId xmlns:a16="http://schemas.microsoft.com/office/drawing/2014/main" id="{8FB63D41-7D48-2019-7F7F-1CF5B602BE97}"/>
              </a:ext>
            </a:extLst>
          </p:cNvPr>
          <p:cNvSpPr/>
          <p:nvPr/>
        </p:nvSpPr>
        <p:spPr bwMode="auto">
          <a:xfrm>
            <a:off x="8613648" y="2761488"/>
            <a:ext cx="2368296" cy="91440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Act
[placeholder]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5" name="loop-node-Reflect">
            <a:extLst>
              <a:ext uri="{FF2B5EF4-FFF2-40B4-BE49-F238E27FC236}">
                <a16:creationId xmlns:a16="http://schemas.microsoft.com/office/drawing/2014/main" id="{37C79FE6-64B0-A7D8-081A-DA7ED9C0F1AB}"/>
              </a:ext>
            </a:extLst>
          </p:cNvPr>
          <p:cNvSpPr/>
          <p:nvPr/>
        </p:nvSpPr>
        <p:spPr bwMode="auto">
          <a:xfrm>
            <a:off x="4910328" y="4343400"/>
            <a:ext cx="2368296" cy="91440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Reflect
[placeholder]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loop-node-Observe">
            <a:extLst>
              <a:ext uri="{FF2B5EF4-FFF2-40B4-BE49-F238E27FC236}">
                <a16:creationId xmlns:a16="http://schemas.microsoft.com/office/drawing/2014/main" id="{2AB4F2C5-A76B-65E4-1EB5-024E82656DC5}"/>
              </a:ext>
            </a:extLst>
          </p:cNvPr>
          <p:cNvSpPr/>
          <p:nvPr/>
        </p:nvSpPr>
        <p:spPr bwMode="auto">
          <a:xfrm>
            <a:off x="1207008" y="2761488"/>
            <a:ext cx="2368296" cy="91440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Observe
[placeholder]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9" name="loop-a1">
            <a:extLst>
              <a:ext uri="{FF2B5EF4-FFF2-40B4-BE49-F238E27FC236}">
                <a16:creationId xmlns:a16="http://schemas.microsoft.com/office/drawing/2014/main" id="{2FCE39C3-5EF5-4D4A-B80D-2578F9CCD697}"/>
              </a:ext>
            </a:extLst>
          </p:cNvPr>
          <p:cNvCxnSpPr/>
          <p:nvPr/>
        </p:nvCxnSpPr>
        <p:spPr bwMode="auto">
          <a:xfrm>
            <a:off x="7259042" y="2221992"/>
            <a:ext cx="1374187" cy="539496"/>
          </a:xfrm>
          <a:prstGeom prst="line">
            <a:avLst/>
          </a:prstGeom>
          <a:ln w="2540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loop-a2">
            <a:extLst>
              <a:ext uri="{FF2B5EF4-FFF2-40B4-BE49-F238E27FC236}">
                <a16:creationId xmlns:a16="http://schemas.microsoft.com/office/drawing/2014/main" id="{A498864C-2DBA-628D-1AF3-EFC0B761E07B}"/>
              </a:ext>
            </a:extLst>
          </p:cNvPr>
          <p:cNvCxnSpPr/>
          <p:nvPr/>
        </p:nvCxnSpPr>
        <p:spPr bwMode="auto">
          <a:xfrm flipH="1">
            <a:off x="7164799" y="3675888"/>
            <a:ext cx="1562672" cy="667512"/>
          </a:xfrm>
          <a:prstGeom prst="line">
            <a:avLst/>
          </a:prstGeom>
          <a:ln w="2540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loop-a3">
            <a:extLst>
              <a:ext uri="{FF2B5EF4-FFF2-40B4-BE49-F238E27FC236}">
                <a16:creationId xmlns:a16="http://schemas.microsoft.com/office/drawing/2014/main" id="{A231FBB4-C6EB-1DA5-52DE-7B7109FD3C47}"/>
              </a:ext>
            </a:extLst>
          </p:cNvPr>
          <p:cNvCxnSpPr/>
          <p:nvPr/>
        </p:nvCxnSpPr>
        <p:spPr bwMode="auto">
          <a:xfrm flipH="1" flipV="1">
            <a:off x="3461479" y="3675888"/>
            <a:ext cx="1562672" cy="667512"/>
          </a:xfrm>
          <a:prstGeom prst="line">
            <a:avLst/>
          </a:prstGeom>
          <a:ln w="2540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loop-a4">
            <a:extLst>
              <a:ext uri="{FF2B5EF4-FFF2-40B4-BE49-F238E27FC236}">
                <a16:creationId xmlns:a16="http://schemas.microsoft.com/office/drawing/2014/main" id="{E1B9BCBC-5773-E3FE-26A7-3D1945A6B06A}"/>
              </a:ext>
            </a:extLst>
          </p:cNvPr>
          <p:cNvCxnSpPr/>
          <p:nvPr/>
        </p:nvCxnSpPr>
        <p:spPr bwMode="auto">
          <a:xfrm flipV="1">
            <a:off x="3555722" y="2221992"/>
            <a:ext cx="1374187" cy="539496"/>
          </a:xfrm>
          <a:prstGeom prst="line">
            <a:avLst/>
          </a:prstGeom>
          <a:ln w="2540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loop-guardrail">
            <a:extLst>
              <a:ext uri="{FF2B5EF4-FFF2-40B4-BE49-F238E27FC236}">
                <a16:creationId xmlns:a16="http://schemas.microsoft.com/office/drawing/2014/main" id="{590DB6E5-9710-8B48-FA45-D7ED81737FDC}"/>
              </a:ext>
            </a:extLst>
          </p:cNvPr>
          <p:cNvSpPr/>
          <p:nvPr/>
        </p:nvSpPr>
        <p:spPr bwMode="auto">
          <a:xfrm>
            <a:off x="777240" y="5458968"/>
            <a:ext cx="10634472" cy="566928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[guardrail / evaluator]
[stop condition]</a:t>
            </a:r>
            <a:endParaRPr kumimoji="0" lang="zh-CN" altLang="en-US" sz="11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5697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7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benchmark_metrics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bench-kpi1">
            <a:extLst>
              <a:ext uri="{FF2B5EF4-FFF2-40B4-BE49-F238E27FC236}">
                <a16:creationId xmlns:a16="http://schemas.microsoft.com/office/drawing/2014/main" id="{8A2B89D1-9CA8-CC2B-EE37-6AE13BBF4CA4}"/>
              </a:ext>
            </a:extLst>
          </p:cNvPr>
          <p:cNvSpPr/>
          <p:nvPr/>
        </p:nvSpPr>
        <p:spPr bwMode="auto">
          <a:xfrm>
            <a:off x="713232" y="1353312"/>
            <a:ext cx="2231136" cy="19019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bench-kpi1-accent">
            <a:extLst>
              <a:ext uri="{FF2B5EF4-FFF2-40B4-BE49-F238E27FC236}">
                <a16:creationId xmlns:a16="http://schemas.microsoft.com/office/drawing/2014/main" id="{C460E606-1768-B95D-1555-C3383AF034E4}"/>
              </a:ext>
            </a:extLst>
          </p:cNvPr>
          <p:cNvSpPr/>
          <p:nvPr/>
        </p:nvSpPr>
        <p:spPr bwMode="auto">
          <a:xfrm>
            <a:off x="713232" y="1353312"/>
            <a:ext cx="64008" cy="1901952"/>
          </a:xfrm>
          <a:prstGeom prst="rect">
            <a:avLst/>
          </a:prstGeom>
          <a:solidFill>
            <a:srgbClr val="008A9A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bench-kpi1-value">
            <a:extLst>
              <a:ext uri="{FF2B5EF4-FFF2-40B4-BE49-F238E27FC236}">
                <a16:creationId xmlns:a16="http://schemas.microsoft.com/office/drawing/2014/main" id="{44517897-FDFB-04A7-45CB-522877CD47A6}"/>
              </a:ext>
            </a:extLst>
          </p:cNvPr>
          <p:cNvSpPr txBox="1"/>
          <p:nvPr/>
        </p:nvSpPr>
        <p:spPr>
          <a:xfrm>
            <a:off x="886968" y="1536192"/>
            <a:ext cx="1856231" cy="603504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008A9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[N]</a:t>
            </a:r>
            <a:endParaRPr lang="zh-CN" altLang="en-US" sz="2500" b="1" dirty="0">
              <a:solidFill>
                <a:srgbClr val="008A9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bench-kpi1-label">
            <a:extLst>
              <a:ext uri="{FF2B5EF4-FFF2-40B4-BE49-F238E27FC236}">
                <a16:creationId xmlns:a16="http://schemas.microsoft.com/office/drawing/2014/main" id="{E1A292CC-E336-29DA-4044-EE8389A943B8}"/>
              </a:ext>
            </a:extLst>
          </p:cNvPr>
          <p:cNvSpPr txBox="1"/>
          <p:nvPr/>
        </p:nvSpPr>
        <p:spPr>
          <a:xfrm>
            <a:off x="886968" y="2240280"/>
            <a:ext cx="1856231" cy="384048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Datasets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bench-kpi1-note">
            <a:extLst>
              <a:ext uri="{FF2B5EF4-FFF2-40B4-BE49-F238E27FC236}">
                <a16:creationId xmlns:a16="http://schemas.microsoft.com/office/drawing/2014/main" id="{6B566E11-4F98-9EB8-8023-E88DC6F0B75A}"/>
              </a:ext>
            </a:extLst>
          </p:cNvPr>
          <p:cNvSpPr txBox="1"/>
          <p:nvPr/>
        </p:nvSpPr>
        <p:spPr>
          <a:xfrm>
            <a:off x="886968" y="2697480"/>
            <a:ext cx="1856231" cy="384048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[task/source split]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bench-kpi2">
            <a:extLst>
              <a:ext uri="{FF2B5EF4-FFF2-40B4-BE49-F238E27FC236}">
                <a16:creationId xmlns:a16="http://schemas.microsoft.com/office/drawing/2014/main" id="{32DF2E54-1857-7A06-0709-CF09002D9FA3}"/>
              </a:ext>
            </a:extLst>
          </p:cNvPr>
          <p:cNvSpPr/>
          <p:nvPr/>
        </p:nvSpPr>
        <p:spPr bwMode="auto">
          <a:xfrm>
            <a:off x="3145536" y="1353312"/>
            <a:ext cx="2231136" cy="19019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bench-kpi2-accent">
            <a:extLst>
              <a:ext uri="{FF2B5EF4-FFF2-40B4-BE49-F238E27FC236}">
                <a16:creationId xmlns:a16="http://schemas.microsoft.com/office/drawing/2014/main" id="{BAF96DB1-00D2-5E87-83E8-370DD53CD697}"/>
              </a:ext>
            </a:extLst>
          </p:cNvPr>
          <p:cNvSpPr/>
          <p:nvPr/>
        </p:nvSpPr>
        <p:spPr bwMode="auto">
          <a:xfrm>
            <a:off x="3145536" y="1353312"/>
            <a:ext cx="64008" cy="1901952"/>
          </a:xfrm>
          <a:prstGeom prst="rect">
            <a:avLst/>
          </a:prstGeom>
          <a:solidFill>
            <a:srgbClr val="006A9E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1" name="bench-kpi2-value">
            <a:extLst>
              <a:ext uri="{FF2B5EF4-FFF2-40B4-BE49-F238E27FC236}">
                <a16:creationId xmlns:a16="http://schemas.microsoft.com/office/drawing/2014/main" id="{FE5000F9-9CF2-9DF8-6073-EA229255A3E2}"/>
              </a:ext>
            </a:extLst>
          </p:cNvPr>
          <p:cNvSpPr txBox="1"/>
          <p:nvPr/>
        </p:nvSpPr>
        <p:spPr>
          <a:xfrm>
            <a:off x="3319272" y="1536192"/>
            <a:ext cx="1856231" cy="603504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006A9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[M]</a:t>
            </a:r>
            <a:endParaRPr lang="zh-CN" altLang="en-US" sz="2500" b="1" dirty="0">
              <a:solidFill>
                <a:srgbClr val="006A9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bench-kpi2-label">
            <a:extLst>
              <a:ext uri="{FF2B5EF4-FFF2-40B4-BE49-F238E27FC236}">
                <a16:creationId xmlns:a16="http://schemas.microsoft.com/office/drawing/2014/main" id="{AFFCC135-ACA4-AE14-999C-856F459C800F}"/>
              </a:ext>
            </a:extLst>
          </p:cNvPr>
          <p:cNvSpPr txBox="1"/>
          <p:nvPr/>
        </p:nvSpPr>
        <p:spPr>
          <a:xfrm>
            <a:off x="3319272" y="2240280"/>
            <a:ext cx="1856231" cy="384048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Baselines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bench-kpi2-note">
            <a:extLst>
              <a:ext uri="{FF2B5EF4-FFF2-40B4-BE49-F238E27FC236}">
                <a16:creationId xmlns:a16="http://schemas.microsoft.com/office/drawing/2014/main" id="{0F447E72-8DE6-268B-A63D-1E363524E7C3}"/>
              </a:ext>
            </a:extLst>
          </p:cNvPr>
          <p:cNvSpPr txBox="1"/>
          <p:nvPr/>
        </p:nvSpPr>
        <p:spPr>
          <a:xfrm>
            <a:off x="3319272" y="2697480"/>
            <a:ext cx="1856231" cy="384048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[models/methods]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bench-kpi3">
            <a:extLst>
              <a:ext uri="{FF2B5EF4-FFF2-40B4-BE49-F238E27FC236}">
                <a16:creationId xmlns:a16="http://schemas.microsoft.com/office/drawing/2014/main" id="{C33D1E01-4A8C-3E8E-C2DD-C0B229983E5A}"/>
              </a:ext>
            </a:extLst>
          </p:cNvPr>
          <p:cNvSpPr/>
          <p:nvPr/>
        </p:nvSpPr>
        <p:spPr bwMode="auto">
          <a:xfrm>
            <a:off x="5577840" y="1353312"/>
            <a:ext cx="2231136" cy="19019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bench-kpi3-accent">
            <a:extLst>
              <a:ext uri="{FF2B5EF4-FFF2-40B4-BE49-F238E27FC236}">
                <a16:creationId xmlns:a16="http://schemas.microsoft.com/office/drawing/2014/main" id="{2205C13D-43E3-2011-C8CE-1CC2F960D47A}"/>
              </a:ext>
            </a:extLst>
          </p:cNvPr>
          <p:cNvSpPr/>
          <p:nvPr/>
        </p:nvSpPr>
        <p:spPr bwMode="auto">
          <a:xfrm>
            <a:off x="5577840" y="1353312"/>
            <a:ext cx="64008" cy="1901952"/>
          </a:xfrm>
          <a:prstGeom prst="rect">
            <a:avLst/>
          </a:prstGeom>
          <a:solidFill>
            <a:srgbClr val="2563E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6" name="bench-kpi3-value">
            <a:extLst>
              <a:ext uri="{FF2B5EF4-FFF2-40B4-BE49-F238E27FC236}">
                <a16:creationId xmlns:a16="http://schemas.microsoft.com/office/drawing/2014/main" id="{CE547844-CB30-F14A-B3E3-6DB763D3DAAE}"/>
              </a:ext>
            </a:extLst>
          </p:cNvPr>
          <p:cNvSpPr txBox="1"/>
          <p:nvPr/>
        </p:nvSpPr>
        <p:spPr>
          <a:xfrm>
            <a:off x="5751576" y="1536192"/>
            <a:ext cx="1856231" cy="603504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2563E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[K]</a:t>
            </a:r>
            <a:endParaRPr lang="zh-CN" altLang="en-US" sz="2500" b="1" dirty="0">
              <a:solidFill>
                <a:srgbClr val="C4123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bench-kpi3-label">
            <a:extLst>
              <a:ext uri="{FF2B5EF4-FFF2-40B4-BE49-F238E27FC236}">
                <a16:creationId xmlns:a16="http://schemas.microsoft.com/office/drawing/2014/main" id="{5830943A-1C28-9AB3-170D-8E06F279B8E2}"/>
              </a:ext>
            </a:extLst>
          </p:cNvPr>
          <p:cNvSpPr txBox="1"/>
          <p:nvPr/>
        </p:nvSpPr>
        <p:spPr>
          <a:xfrm>
            <a:off x="5751576" y="2240280"/>
            <a:ext cx="1856231" cy="384048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Metrics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bench-kpi3-note">
            <a:extLst>
              <a:ext uri="{FF2B5EF4-FFF2-40B4-BE49-F238E27FC236}">
                <a16:creationId xmlns:a16="http://schemas.microsoft.com/office/drawing/2014/main" id="{8E09559F-25F3-57D7-18BE-E04227BCECC1}"/>
              </a:ext>
            </a:extLst>
          </p:cNvPr>
          <p:cNvSpPr txBox="1"/>
          <p:nvPr/>
        </p:nvSpPr>
        <p:spPr>
          <a:xfrm>
            <a:off x="5751576" y="2697480"/>
            <a:ext cx="1856231" cy="384048"/>
          </a:xfrm>
          <a:prstGeom prst="rect">
            <a:avLst/>
          </a:prstGeom>
          <a:noFill/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[quality/cost/safety]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bench-protocol">
            <a:extLst>
              <a:ext uri="{FF2B5EF4-FFF2-40B4-BE49-F238E27FC236}">
                <a16:creationId xmlns:a16="http://schemas.microsoft.com/office/drawing/2014/main" id="{5CCD467F-8BE6-DB80-6379-DF7CB89C2AA9}"/>
              </a:ext>
            </a:extLst>
          </p:cNvPr>
          <p:cNvSpPr/>
          <p:nvPr/>
        </p:nvSpPr>
        <p:spPr bwMode="auto">
          <a:xfrm>
            <a:off x="8183879" y="1353312"/>
            <a:ext cx="3319272" cy="1901952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[Evaluation protocol]
- [train/test split]
- [repeat count]
- [statistical note]</a:t>
            </a: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bench-table-r1c1">
            <a:extLst>
              <a:ext uri="{FF2B5EF4-FFF2-40B4-BE49-F238E27FC236}">
                <a16:creationId xmlns:a16="http://schemas.microsoft.com/office/drawing/2014/main" id="{7284F38A-BE07-87D6-3207-43762B4AF06B}"/>
              </a:ext>
            </a:extLst>
          </p:cNvPr>
          <p:cNvSpPr/>
          <p:nvPr/>
        </p:nvSpPr>
        <p:spPr bwMode="auto">
          <a:xfrm>
            <a:off x="711200" y="3613982"/>
            <a:ext cx="2037080" cy="475067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Metric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1" name="bench-table-r1c2">
            <a:extLst>
              <a:ext uri="{FF2B5EF4-FFF2-40B4-BE49-F238E27FC236}">
                <a16:creationId xmlns:a16="http://schemas.microsoft.com/office/drawing/2014/main" id="{AF7B0B9B-C4C0-3A14-23C1-68083F46BE0F}"/>
              </a:ext>
            </a:extLst>
          </p:cNvPr>
          <p:cNvSpPr/>
          <p:nvPr/>
        </p:nvSpPr>
        <p:spPr bwMode="auto">
          <a:xfrm>
            <a:off x="2748280" y="3613982"/>
            <a:ext cx="2037080" cy="475067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Definition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2" name="bench-table-r1c3">
            <a:extLst>
              <a:ext uri="{FF2B5EF4-FFF2-40B4-BE49-F238E27FC236}">
                <a16:creationId xmlns:a16="http://schemas.microsoft.com/office/drawing/2014/main" id="{7E10511A-DBD5-858B-2D65-708006356D3A}"/>
              </a:ext>
            </a:extLst>
          </p:cNvPr>
          <p:cNvSpPr/>
          <p:nvPr/>
        </p:nvSpPr>
        <p:spPr bwMode="auto">
          <a:xfrm>
            <a:off x="4785360" y="3613982"/>
            <a:ext cx="2037079" cy="475067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Direction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3" name="bench-table-r1c4">
            <a:extLst>
              <a:ext uri="{FF2B5EF4-FFF2-40B4-BE49-F238E27FC236}">
                <a16:creationId xmlns:a16="http://schemas.microsoft.com/office/drawing/2014/main" id="{250CED77-31C2-89EF-5FD1-72161D7C8FBD}"/>
              </a:ext>
            </a:extLst>
          </p:cNvPr>
          <p:cNvSpPr/>
          <p:nvPr/>
        </p:nvSpPr>
        <p:spPr bwMode="auto">
          <a:xfrm>
            <a:off x="6822440" y="3613982"/>
            <a:ext cx="2037080" cy="475067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Dataset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bench-table-r1c5">
            <a:extLst>
              <a:ext uri="{FF2B5EF4-FFF2-40B4-BE49-F238E27FC236}">
                <a16:creationId xmlns:a16="http://schemas.microsoft.com/office/drawing/2014/main" id="{767E3885-B188-40E8-41C4-67119D7CA11A}"/>
              </a:ext>
            </a:extLst>
          </p:cNvPr>
          <p:cNvSpPr/>
          <p:nvPr/>
        </p:nvSpPr>
        <p:spPr bwMode="auto">
          <a:xfrm>
            <a:off x="8859520" y="3613982"/>
            <a:ext cx="2037080" cy="475067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Owner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5" name="bench-table-r2c1">
            <a:extLst>
              <a:ext uri="{FF2B5EF4-FFF2-40B4-BE49-F238E27FC236}">
                <a16:creationId xmlns:a16="http://schemas.microsoft.com/office/drawing/2014/main" id="{744B9E1E-0F7E-49BA-BE11-43AC84E9DD29}"/>
              </a:ext>
            </a:extLst>
          </p:cNvPr>
          <p:cNvSpPr/>
          <p:nvPr/>
        </p:nvSpPr>
        <p:spPr bwMode="auto">
          <a:xfrm>
            <a:off x="711200" y="4089049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[accuracy]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6" name="bench-table-r2c2">
            <a:extLst>
              <a:ext uri="{FF2B5EF4-FFF2-40B4-BE49-F238E27FC236}">
                <a16:creationId xmlns:a16="http://schemas.microsoft.com/office/drawing/2014/main" id="{6FDF9D7E-5372-C525-CC69-8856E3767584}"/>
              </a:ext>
            </a:extLst>
          </p:cNvPr>
          <p:cNvSpPr/>
          <p:nvPr/>
        </p:nvSpPr>
        <p:spPr bwMode="auto">
          <a:xfrm>
            <a:off x="2748280" y="4089049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[formula]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7" name="bench-table-r2c3">
            <a:extLst>
              <a:ext uri="{FF2B5EF4-FFF2-40B4-BE49-F238E27FC236}">
                <a16:creationId xmlns:a16="http://schemas.microsoft.com/office/drawing/2014/main" id="{5277229A-BCBD-706D-3BFE-835CA9142479}"/>
              </a:ext>
            </a:extLst>
          </p:cNvPr>
          <p:cNvSpPr/>
          <p:nvPr/>
        </p:nvSpPr>
        <p:spPr bwMode="auto">
          <a:xfrm>
            <a:off x="4785360" y="4089049"/>
            <a:ext cx="2037079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higher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8" name="bench-table-r2c4">
            <a:extLst>
              <a:ext uri="{FF2B5EF4-FFF2-40B4-BE49-F238E27FC236}">
                <a16:creationId xmlns:a16="http://schemas.microsoft.com/office/drawing/2014/main" id="{4F6F4644-0911-CB85-CDBA-637BDFCC937D}"/>
              </a:ext>
            </a:extLst>
          </p:cNvPr>
          <p:cNvSpPr/>
          <p:nvPr/>
        </p:nvSpPr>
        <p:spPr bwMode="auto">
          <a:xfrm>
            <a:off x="6822440" y="4089049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[set 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9" name="bench-table-r2c5">
            <a:extLst>
              <a:ext uri="{FF2B5EF4-FFF2-40B4-BE49-F238E27FC236}">
                <a16:creationId xmlns:a16="http://schemas.microsoft.com/office/drawing/2014/main" id="{EAA79EC4-9079-FB8E-F862-525C8BEEA144}"/>
              </a:ext>
            </a:extLst>
          </p:cNvPr>
          <p:cNvSpPr/>
          <p:nvPr/>
        </p:nvSpPr>
        <p:spPr bwMode="auto">
          <a:xfrm>
            <a:off x="8859520" y="4089049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0" name="bench-table-r3c1">
            <a:extLst>
              <a:ext uri="{FF2B5EF4-FFF2-40B4-BE49-F238E27FC236}">
                <a16:creationId xmlns:a16="http://schemas.microsoft.com/office/drawing/2014/main" id="{6A5B322A-63F6-8CBB-0BB9-C137E057E115}"/>
              </a:ext>
            </a:extLst>
          </p:cNvPr>
          <p:cNvSpPr/>
          <p:nvPr/>
        </p:nvSpPr>
        <p:spPr bwMode="auto">
          <a:xfrm>
            <a:off x="711200" y="4564117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[latency]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1" name="bench-table-r3c2">
            <a:extLst>
              <a:ext uri="{FF2B5EF4-FFF2-40B4-BE49-F238E27FC236}">
                <a16:creationId xmlns:a16="http://schemas.microsoft.com/office/drawing/2014/main" id="{25CC4442-DFDC-AA95-F894-00CBB577ECC2}"/>
              </a:ext>
            </a:extLst>
          </p:cNvPr>
          <p:cNvSpPr/>
          <p:nvPr/>
        </p:nvSpPr>
        <p:spPr bwMode="auto">
          <a:xfrm>
            <a:off x="2748280" y="4564117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[formula]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2" name="bench-table-r3c3">
            <a:extLst>
              <a:ext uri="{FF2B5EF4-FFF2-40B4-BE49-F238E27FC236}">
                <a16:creationId xmlns:a16="http://schemas.microsoft.com/office/drawing/2014/main" id="{09540E5B-C1AF-E4A3-C633-254D0B2F9C09}"/>
              </a:ext>
            </a:extLst>
          </p:cNvPr>
          <p:cNvSpPr/>
          <p:nvPr/>
        </p:nvSpPr>
        <p:spPr bwMode="auto">
          <a:xfrm>
            <a:off x="4785360" y="4564117"/>
            <a:ext cx="2037079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lower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3" name="bench-table-r3c4">
            <a:extLst>
              <a:ext uri="{FF2B5EF4-FFF2-40B4-BE49-F238E27FC236}">
                <a16:creationId xmlns:a16="http://schemas.microsoft.com/office/drawing/2014/main" id="{38F46832-58C3-4DEA-5FDF-F29582A29F1E}"/>
              </a:ext>
            </a:extLst>
          </p:cNvPr>
          <p:cNvSpPr/>
          <p:nvPr/>
        </p:nvSpPr>
        <p:spPr bwMode="auto">
          <a:xfrm>
            <a:off x="6822440" y="4564117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[set B]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4" name="bench-table-r3c5">
            <a:extLst>
              <a:ext uri="{FF2B5EF4-FFF2-40B4-BE49-F238E27FC236}">
                <a16:creationId xmlns:a16="http://schemas.microsoft.com/office/drawing/2014/main" id="{A76F36FA-D15C-2176-A52A-6BD3FA808C51}"/>
              </a:ext>
            </a:extLst>
          </p:cNvPr>
          <p:cNvSpPr/>
          <p:nvPr/>
        </p:nvSpPr>
        <p:spPr bwMode="auto">
          <a:xfrm>
            <a:off x="8859520" y="4564117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5" name="bench-table-r4c1">
            <a:extLst>
              <a:ext uri="{FF2B5EF4-FFF2-40B4-BE49-F238E27FC236}">
                <a16:creationId xmlns:a16="http://schemas.microsoft.com/office/drawing/2014/main" id="{B8147689-E956-277E-54B6-8EBD6DC56DF3}"/>
              </a:ext>
            </a:extLst>
          </p:cNvPr>
          <p:cNvSpPr/>
          <p:nvPr/>
        </p:nvSpPr>
        <p:spPr bwMode="auto">
          <a:xfrm>
            <a:off x="711200" y="5039184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[cost]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6" name="bench-table-r4c2">
            <a:extLst>
              <a:ext uri="{FF2B5EF4-FFF2-40B4-BE49-F238E27FC236}">
                <a16:creationId xmlns:a16="http://schemas.microsoft.com/office/drawing/2014/main" id="{6247F17F-69E5-7CE9-F9C8-FC108282717A}"/>
              </a:ext>
            </a:extLst>
          </p:cNvPr>
          <p:cNvSpPr/>
          <p:nvPr/>
        </p:nvSpPr>
        <p:spPr bwMode="auto">
          <a:xfrm>
            <a:off x="2748280" y="5039184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[formula]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7" name="bench-table-r4c3">
            <a:extLst>
              <a:ext uri="{FF2B5EF4-FFF2-40B4-BE49-F238E27FC236}">
                <a16:creationId xmlns:a16="http://schemas.microsoft.com/office/drawing/2014/main" id="{B3140FB8-4D0C-C90F-3281-5DEB28C83834}"/>
              </a:ext>
            </a:extLst>
          </p:cNvPr>
          <p:cNvSpPr/>
          <p:nvPr/>
        </p:nvSpPr>
        <p:spPr bwMode="auto">
          <a:xfrm>
            <a:off x="4785360" y="5039184"/>
            <a:ext cx="2037079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lower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8" name="bench-table-r4c4">
            <a:extLst>
              <a:ext uri="{FF2B5EF4-FFF2-40B4-BE49-F238E27FC236}">
                <a16:creationId xmlns:a16="http://schemas.microsoft.com/office/drawing/2014/main" id="{489C7748-5F36-9355-590C-BAF95FEE0753}"/>
              </a:ext>
            </a:extLst>
          </p:cNvPr>
          <p:cNvSpPr/>
          <p:nvPr/>
        </p:nvSpPr>
        <p:spPr bwMode="auto">
          <a:xfrm>
            <a:off x="6822440" y="5039184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[set C]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9" name="bench-table-r4c5">
            <a:extLst>
              <a:ext uri="{FF2B5EF4-FFF2-40B4-BE49-F238E27FC236}">
                <a16:creationId xmlns:a16="http://schemas.microsoft.com/office/drawing/2014/main" id="{F140962A-62CF-47CF-D704-A4BAA8977AF0}"/>
              </a:ext>
            </a:extLst>
          </p:cNvPr>
          <p:cNvSpPr/>
          <p:nvPr/>
        </p:nvSpPr>
        <p:spPr bwMode="auto">
          <a:xfrm>
            <a:off x="8859520" y="5039184"/>
            <a:ext cx="2037080" cy="475067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0" name="bench-table-r5c1">
            <a:extLst>
              <a:ext uri="{FF2B5EF4-FFF2-40B4-BE49-F238E27FC236}">
                <a16:creationId xmlns:a16="http://schemas.microsoft.com/office/drawing/2014/main" id="{86B85E9B-EB89-BD22-3DDB-D0DCED6CA3AD}"/>
              </a:ext>
            </a:extLst>
          </p:cNvPr>
          <p:cNvSpPr/>
          <p:nvPr/>
        </p:nvSpPr>
        <p:spPr bwMode="auto">
          <a:xfrm>
            <a:off x="711200" y="5514252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[robustness]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1" name="bench-table-r5c2">
            <a:extLst>
              <a:ext uri="{FF2B5EF4-FFF2-40B4-BE49-F238E27FC236}">
                <a16:creationId xmlns:a16="http://schemas.microsoft.com/office/drawing/2014/main" id="{8D8D46F8-660D-6557-26D6-21E67709E2D9}"/>
              </a:ext>
            </a:extLst>
          </p:cNvPr>
          <p:cNvSpPr/>
          <p:nvPr/>
        </p:nvSpPr>
        <p:spPr bwMode="auto">
          <a:xfrm>
            <a:off x="2748280" y="5514252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[formula]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2" name="bench-table-r5c3">
            <a:extLst>
              <a:ext uri="{FF2B5EF4-FFF2-40B4-BE49-F238E27FC236}">
                <a16:creationId xmlns:a16="http://schemas.microsoft.com/office/drawing/2014/main" id="{4FD9D207-7073-A62D-BEF5-A8852DAFEB92}"/>
              </a:ext>
            </a:extLst>
          </p:cNvPr>
          <p:cNvSpPr/>
          <p:nvPr/>
        </p:nvSpPr>
        <p:spPr bwMode="auto">
          <a:xfrm>
            <a:off x="4785360" y="5514252"/>
            <a:ext cx="2037079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higher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3" name="bench-table-r5c4">
            <a:extLst>
              <a:ext uri="{FF2B5EF4-FFF2-40B4-BE49-F238E27FC236}">
                <a16:creationId xmlns:a16="http://schemas.microsoft.com/office/drawing/2014/main" id="{9582892C-E2FA-714F-D635-D8F860557B70}"/>
              </a:ext>
            </a:extLst>
          </p:cNvPr>
          <p:cNvSpPr/>
          <p:nvPr/>
        </p:nvSpPr>
        <p:spPr bwMode="auto">
          <a:xfrm>
            <a:off x="6822440" y="5514252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[set D]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4" name="bench-table-r5c5">
            <a:extLst>
              <a:ext uri="{FF2B5EF4-FFF2-40B4-BE49-F238E27FC236}">
                <a16:creationId xmlns:a16="http://schemas.microsoft.com/office/drawing/2014/main" id="{0842599F-F4B6-3103-C879-AEEA605B3EF8}"/>
              </a:ext>
            </a:extLst>
          </p:cNvPr>
          <p:cNvSpPr/>
          <p:nvPr/>
        </p:nvSpPr>
        <p:spPr bwMode="auto">
          <a:xfrm>
            <a:off x="8859520" y="5514252"/>
            <a:ext cx="2037080" cy="475067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1266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8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result_big_numbers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big-kpi1">
            <a:extLst>
              <a:ext uri="{FF2B5EF4-FFF2-40B4-BE49-F238E27FC236}">
                <a16:creationId xmlns:a16="http://schemas.microsoft.com/office/drawing/2014/main" id="{8F23A97B-7E59-B353-6A6D-963D178C6A4D}"/>
              </a:ext>
            </a:extLst>
          </p:cNvPr>
          <p:cNvSpPr/>
          <p:nvPr/>
        </p:nvSpPr>
        <p:spPr bwMode="auto">
          <a:xfrm>
            <a:off x="777240" y="1353312"/>
            <a:ext cx="4828032" cy="3584448"/>
          </a:xfrm>
          <a:prstGeom prst="roundRect">
            <a:avLst/>
          </a:prstGeom>
          <a:solidFill>
            <a:srgbClr val="EFF8F9"/>
          </a:solidFill>
          <a:ln w="10160">
            <a:solidFill>
              <a:srgbClr val="CFDDE4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big-kpi1-accent">
            <a:extLst>
              <a:ext uri="{FF2B5EF4-FFF2-40B4-BE49-F238E27FC236}">
                <a16:creationId xmlns:a16="http://schemas.microsoft.com/office/drawing/2014/main" id="{2F88BB66-FE71-1E72-438A-B35BFBD4F6E4}"/>
              </a:ext>
            </a:extLst>
          </p:cNvPr>
          <p:cNvSpPr/>
          <p:nvPr/>
        </p:nvSpPr>
        <p:spPr bwMode="auto">
          <a:xfrm>
            <a:off x="777240" y="1353312"/>
            <a:ext cx="73152" cy="3584448"/>
          </a:xfrm>
          <a:prstGeom prst="rect">
            <a:avLst/>
          </a:prstGeom>
          <a:solidFill>
            <a:srgbClr val="008A9A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big-kpi1-value">
            <a:extLst>
              <a:ext uri="{FF2B5EF4-FFF2-40B4-BE49-F238E27FC236}">
                <a16:creationId xmlns:a16="http://schemas.microsoft.com/office/drawing/2014/main" id="{4DBB05CF-3D22-E9B5-D9C7-DA2A337C884E}"/>
              </a:ext>
            </a:extLst>
          </p:cNvPr>
          <p:cNvSpPr txBox="1"/>
          <p:nvPr/>
        </p:nvSpPr>
        <p:spPr>
          <a:xfrm>
            <a:off x="1033271" y="1664208"/>
            <a:ext cx="4315968" cy="85953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2563E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[+XX%]</a:t>
            </a:r>
            <a:endParaRPr lang="zh-CN" altLang="en-US" sz="2500" b="1" dirty="0">
              <a:solidFill>
                <a:srgbClr val="C4123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big-kpi1-label">
            <a:extLst>
              <a:ext uri="{FF2B5EF4-FFF2-40B4-BE49-F238E27FC236}">
                <a16:creationId xmlns:a16="http://schemas.microsoft.com/office/drawing/2014/main" id="{3F4B7671-DAC3-622D-8F92-4491E085BBA7}"/>
              </a:ext>
            </a:extLst>
          </p:cNvPr>
          <p:cNvSpPr txBox="1"/>
          <p:nvPr/>
        </p:nvSpPr>
        <p:spPr>
          <a:xfrm>
            <a:off x="1033271" y="2724912"/>
            <a:ext cx="4315968" cy="50292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Headline improvement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big-kpi1-note">
            <a:extLst>
              <a:ext uri="{FF2B5EF4-FFF2-40B4-BE49-F238E27FC236}">
                <a16:creationId xmlns:a16="http://schemas.microsoft.com/office/drawing/2014/main" id="{A885CF28-8EE2-9B8B-2758-D428F56A08D9}"/>
              </a:ext>
            </a:extLst>
          </p:cNvPr>
          <p:cNvSpPr txBox="1"/>
          <p:nvPr/>
        </p:nvSpPr>
        <p:spPr>
          <a:xfrm>
            <a:off x="1033271" y="3410712"/>
            <a:ext cx="4315968" cy="98755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[compared with baseline / previous version]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big-kpi2">
            <a:extLst>
              <a:ext uri="{FF2B5EF4-FFF2-40B4-BE49-F238E27FC236}">
                <a16:creationId xmlns:a16="http://schemas.microsoft.com/office/drawing/2014/main" id="{0C619F78-ADBE-EEEF-60F0-CE54DFCA433C}"/>
              </a:ext>
            </a:extLst>
          </p:cNvPr>
          <p:cNvSpPr/>
          <p:nvPr/>
        </p:nvSpPr>
        <p:spPr bwMode="auto">
          <a:xfrm>
            <a:off x="5897880" y="1353312"/>
            <a:ext cx="55138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DE4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big-kpi2-accent">
            <a:extLst>
              <a:ext uri="{FF2B5EF4-FFF2-40B4-BE49-F238E27FC236}">
                <a16:creationId xmlns:a16="http://schemas.microsoft.com/office/drawing/2014/main" id="{1B949132-B7FE-EDDF-00F7-F37674363B49}"/>
              </a:ext>
            </a:extLst>
          </p:cNvPr>
          <p:cNvSpPr/>
          <p:nvPr/>
        </p:nvSpPr>
        <p:spPr bwMode="auto">
          <a:xfrm>
            <a:off x="5897880" y="1353312"/>
            <a:ext cx="73152" cy="1645920"/>
          </a:xfrm>
          <a:prstGeom prst="rect">
            <a:avLst/>
          </a:prstGeom>
          <a:solidFill>
            <a:srgbClr val="8FB0C3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1" name="big-kpi2-value">
            <a:extLst>
              <a:ext uri="{FF2B5EF4-FFF2-40B4-BE49-F238E27FC236}">
                <a16:creationId xmlns:a16="http://schemas.microsoft.com/office/drawing/2014/main" id="{E99C87DD-0353-10E8-B979-7F7D5B896F42}"/>
              </a:ext>
            </a:extLst>
          </p:cNvPr>
          <p:cNvSpPr txBox="1"/>
          <p:nvPr/>
        </p:nvSpPr>
        <p:spPr>
          <a:xfrm>
            <a:off x="6126480" y="1554480"/>
            <a:ext cx="1572768" cy="54864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008A9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[XX.x]</a:t>
            </a:r>
            <a:endParaRPr lang="zh-CN" altLang="en-US" sz="2500" b="1" dirty="0">
              <a:solidFill>
                <a:srgbClr val="008A9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big-kpi2-label">
            <a:extLst>
              <a:ext uri="{FF2B5EF4-FFF2-40B4-BE49-F238E27FC236}">
                <a16:creationId xmlns:a16="http://schemas.microsoft.com/office/drawing/2014/main" id="{CE044751-C455-205E-F78B-0156CCAA3827}"/>
              </a:ext>
            </a:extLst>
          </p:cNvPr>
          <p:cNvSpPr txBox="1"/>
          <p:nvPr/>
        </p:nvSpPr>
        <p:spPr>
          <a:xfrm>
            <a:off x="7799832" y="1563624"/>
            <a:ext cx="3374136" cy="53035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Primary score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big-kpi2-note">
            <a:extLst>
              <a:ext uri="{FF2B5EF4-FFF2-40B4-BE49-F238E27FC236}">
                <a16:creationId xmlns:a16="http://schemas.microsoft.com/office/drawing/2014/main" id="{D402FE36-AA3D-5A1C-5869-2416DAA2BEA9}"/>
              </a:ext>
            </a:extLst>
          </p:cNvPr>
          <p:cNvSpPr txBox="1"/>
          <p:nvPr/>
        </p:nvSpPr>
        <p:spPr>
          <a:xfrm>
            <a:off x="6126480" y="2286000"/>
            <a:ext cx="5038344" cy="47548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[metric name and split]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big-kpi3">
            <a:extLst>
              <a:ext uri="{FF2B5EF4-FFF2-40B4-BE49-F238E27FC236}">
                <a16:creationId xmlns:a16="http://schemas.microsoft.com/office/drawing/2014/main" id="{2B81DD52-A721-86B5-CADD-B7E9EAEF7DC7}"/>
              </a:ext>
            </a:extLst>
          </p:cNvPr>
          <p:cNvSpPr/>
          <p:nvPr/>
        </p:nvSpPr>
        <p:spPr bwMode="auto">
          <a:xfrm>
            <a:off x="5897880" y="3291840"/>
            <a:ext cx="5513832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DE4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big-kpi3-accent">
            <a:extLst>
              <a:ext uri="{FF2B5EF4-FFF2-40B4-BE49-F238E27FC236}">
                <a16:creationId xmlns:a16="http://schemas.microsoft.com/office/drawing/2014/main" id="{B77B8BF6-A724-C64E-ED08-403EA624FC12}"/>
              </a:ext>
            </a:extLst>
          </p:cNvPr>
          <p:cNvSpPr/>
          <p:nvPr/>
        </p:nvSpPr>
        <p:spPr bwMode="auto">
          <a:xfrm>
            <a:off x="5897880" y="3291840"/>
            <a:ext cx="73152" cy="1645920"/>
          </a:xfrm>
          <a:prstGeom prst="rect">
            <a:avLst/>
          </a:prstGeom>
          <a:solidFill>
            <a:srgbClr val="8FB0C3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6" name="big-kpi3-value">
            <a:extLst>
              <a:ext uri="{FF2B5EF4-FFF2-40B4-BE49-F238E27FC236}">
                <a16:creationId xmlns:a16="http://schemas.microsoft.com/office/drawing/2014/main" id="{E0108E3C-F994-72EE-9EB3-377FD3942C40}"/>
              </a:ext>
            </a:extLst>
          </p:cNvPr>
          <p:cNvSpPr txBox="1"/>
          <p:nvPr/>
        </p:nvSpPr>
        <p:spPr>
          <a:xfrm>
            <a:off x="6126480" y="3493008"/>
            <a:ext cx="1572768" cy="54864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006A9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[XX%]</a:t>
            </a:r>
            <a:endParaRPr lang="zh-CN" altLang="en-US" sz="2500" b="1" dirty="0">
              <a:solidFill>
                <a:srgbClr val="006A9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big-kpi3-label">
            <a:extLst>
              <a:ext uri="{FF2B5EF4-FFF2-40B4-BE49-F238E27FC236}">
                <a16:creationId xmlns:a16="http://schemas.microsoft.com/office/drawing/2014/main" id="{0ABADDF0-B61E-D81C-3EB6-9768C50D285D}"/>
              </a:ext>
            </a:extLst>
          </p:cNvPr>
          <p:cNvSpPr txBox="1"/>
          <p:nvPr/>
        </p:nvSpPr>
        <p:spPr>
          <a:xfrm>
            <a:off x="7799832" y="3502152"/>
            <a:ext cx="3374136" cy="53035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Efficiency gain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big-kpi3-note">
            <a:extLst>
              <a:ext uri="{FF2B5EF4-FFF2-40B4-BE49-F238E27FC236}">
                <a16:creationId xmlns:a16="http://schemas.microsoft.com/office/drawing/2014/main" id="{31F90611-FE34-24FA-7FBF-4FB167BEBFA7}"/>
              </a:ext>
            </a:extLst>
          </p:cNvPr>
          <p:cNvSpPr txBox="1"/>
          <p:nvPr/>
        </p:nvSpPr>
        <p:spPr>
          <a:xfrm>
            <a:off x="6126480" y="4224528"/>
            <a:ext cx="5038344" cy="47548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[latency / cost / data]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big-interpretation">
            <a:extLst>
              <a:ext uri="{FF2B5EF4-FFF2-40B4-BE49-F238E27FC236}">
                <a16:creationId xmlns:a16="http://schemas.microsoft.com/office/drawing/2014/main" id="{7E75D1C2-6D7B-E708-F182-A668CBBF4441}"/>
              </a:ext>
            </a:extLst>
          </p:cNvPr>
          <p:cNvSpPr/>
          <p:nvPr/>
        </p:nvSpPr>
        <p:spPr bwMode="auto">
          <a:xfrm>
            <a:off x="777240" y="5212080"/>
            <a:ext cx="10634472" cy="804672"/>
          </a:xfrm>
          <a:prstGeom prst="roundRect">
            <a:avLst/>
          </a:prstGeom>
          <a:solidFill>
            <a:srgbClr val="FFF7E4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[Interpretation] Replace this strip with the single sentence these numbers prove. Keep it short enough to read at thumbnail scale.</a:t>
            </a:r>
            <a:endParaRPr kumimoji="0" lang="zh-CN" altLang="en-US" sz="13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533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9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results_bars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bars-chart-panel">
            <a:extLst>
              <a:ext uri="{FF2B5EF4-FFF2-40B4-BE49-F238E27FC236}">
                <a16:creationId xmlns:a16="http://schemas.microsoft.com/office/drawing/2014/main" id="{FEFD646B-6E7D-D52B-9BD9-7E5CC5728189}"/>
              </a:ext>
            </a:extLst>
          </p:cNvPr>
          <p:cNvSpPr/>
          <p:nvPr/>
        </p:nvSpPr>
        <p:spPr bwMode="auto">
          <a:xfrm>
            <a:off x="685800" y="1353312"/>
            <a:ext cx="7882127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bars-title">
            <a:extLst>
              <a:ext uri="{FF2B5EF4-FFF2-40B4-BE49-F238E27FC236}">
                <a16:creationId xmlns:a16="http://schemas.microsoft.com/office/drawing/2014/main" id="{25DBB085-4912-C77F-0B6F-1EE94DE1A3E8}"/>
              </a:ext>
            </a:extLst>
          </p:cNvPr>
          <p:cNvSpPr txBox="1"/>
          <p:nvPr/>
        </p:nvSpPr>
        <p:spPr>
          <a:xfrm>
            <a:off x="1024128" y="1645920"/>
            <a:ext cx="3840480" cy="384048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3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[Metric comparison]</a:t>
            </a:r>
            <a:endParaRPr lang="zh-CN" altLang="en-US" sz="13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bar1-label">
            <a:extLst>
              <a:ext uri="{FF2B5EF4-FFF2-40B4-BE49-F238E27FC236}">
                <a16:creationId xmlns:a16="http://schemas.microsoft.com/office/drawing/2014/main" id="{D6FBD4E1-21E0-92E1-3897-2AAD41140C28}"/>
              </a:ext>
            </a:extLst>
          </p:cNvPr>
          <p:cNvSpPr txBox="1"/>
          <p:nvPr/>
        </p:nvSpPr>
        <p:spPr>
          <a:xfrm>
            <a:off x="1024128" y="2267712"/>
            <a:ext cx="1325880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[Baseline A]</a:t>
            </a:r>
            <a:endParaRPr lang="zh-CN" altLang="en-US" sz="900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bar1-track">
            <a:extLst>
              <a:ext uri="{FF2B5EF4-FFF2-40B4-BE49-F238E27FC236}">
                <a16:creationId xmlns:a16="http://schemas.microsoft.com/office/drawing/2014/main" id="{DA28DC39-44CE-7B45-D78B-F5F1D2E0657B}"/>
              </a:ext>
            </a:extLst>
          </p:cNvPr>
          <p:cNvSpPr/>
          <p:nvPr/>
        </p:nvSpPr>
        <p:spPr bwMode="auto">
          <a:xfrm>
            <a:off x="2578608" y="2295144"/>
            <a:ext cx="4343400" cy="274320"/>
          </a:xfrm>
          <a:prstGeom prst="rect">
            <a:avLst/>
          </a:prstGeom>
          <a:solidFill>
            <a:srgbClr val="E9F1F5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8" name="bar1-fill">
            <a:extLst>
              <a:ext uri="{FF2B5EF4-FFF2-40B4-BE49-F238E27FC236}">
                <a16:creationId xmlns:a16="http://schemas.microsoft.com/office/drawing/2014/main" id="{283A5F8A-D5BE-890D-E657-C54112890FAB}"/>
              </a:ext>
            </a:extLst>
          </p:cNvPr>
          <p:cNvSpPr/>
          <p:nvPr/>
        </p:nvSpPr>
        <p:spPr bwMode="auto">
          <a:xfrm>
            <a:off x="2578608" y="2295144"/>
            <a:ext cx="4343400" cy="274320"/>
          </a:xfrm>
          <a:prstGeom prst="rect">
            <a:avLst/>
          </a:prstGeom>
          <a:solidFill>
            <a:srgbClr val="8FB0C3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9" name="bar1-value">
            <a:extLst>
              <a:ext uri="{FF2B5EF4-FFF2-40B4-BE49-F238E27FC236}">
                <a16:creationId xmlns:a16="http://schemas.microsoft.com/office/drawing/2014/main" id="{B4DE4D1F-6FEE-0AB1-13AB-F92CABF3D525}"/>
              </a:ext>
            </a:extLst>
          </p:cNvPr>
          <p:cNvSpPr txBox="1"/>
          <p:nvPr/>
        </p:nvSpPr>
        <p:spPr>
          <a:xfrm>
            <a:off x="7095744" y="2267712"/>
            <a:ext cx="694944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[42]</a:t>
            </a:r>
            <a:endParaRPr lang="zh-CN" altLang="en-US" sz="9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bar2-label">
            <a:extLst>
              <a:ext uri="{FF2B5EF4-FFF2-40B4-BE49-F238E27FC236}">
                <a16:creationId xmlns:a16="http://schemas.microsoft.com/office/drawing/2014/main" id="{58847F1B-2B45-60AA-1486-935DCEDB05A3}"/>
              </a:ext>
            </a:extLst>
          </p:cNvPr>
          <p:cNvSpPr txBox="1"/>
          <p:nvPr/>
        </p:nvSpPr>
        <p:spPr>
          <a:xfrm>
            <a:off x="1024128" y="3108960"/>
            <a:ext cx="1325880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[Baseline B]</a:t>
            </a:r>
            <a:endParaRPr lang="zh-CN" altLang="en-US" sz="900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bar2-track">
            <a:extLst>
              <a:ext uri="{FF2B5EF4-FFF2-40B4-BE49-F238E27FC236}">
                <a16:creationId xmlns:a16="http://schemas.microsoft.com/office/drawing/2014/main" id="{278B27B3-8EAE-550B-C9C4-13CE4E41F09D}"/>
              </a:ext>
            </a:extLst>
          </p:cNvPr>
          <p:cNvSpPr/>
          <p:nvPr/>
        </p:nvSpPr>
        <p:spPr bwMode="auto">
          <a:xfrm>
            <a:off x="2578608" y="3136391"/>
            <a:ext cx="4343400" cy="274320"/>
          </a:xfrm>
          <a:prstGeom prst="rect">
            <a:avLst/>
          </a:prstGeom>
          <a:solidFill>
            <a:srgbClr val="E9F1F5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2" name="bar2-fill">
            <a:extLst>
              <a:ext uri="{FF2B5EF4-FFF2-40B4-BE49-F238E27FC236}">
                <a16:creationId xmlns:a16="http://schemas.microsoft.com/office/drawing/2014/main" id="{D0216013-0642-34EC-C2A6-F9219D8A5E5A}"/>
              </a:ext>
            </a:extLst>
          </p:cNvPr>
          <p:cNvSpPr/>
          <p:nvPr/>
        </p:nvSpPr>
        <p:spPr bwMode="auto">
          <a:xfrm>
            <a:off x="2578608" y="3136391"/>
            <a:ext cx="4343400" cy="274320"/>
          </a:xfrm>
          <a:prstGeom prst="rect">
            <a:avLst/>
          </a:prstGeom>
          <a:solidFill>
            <a:srgbClr val="8FB0C3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3" name="bar2-value">
            <a:extLst>
              <a:ext uri="{FF2B5EF4-FFF2-40B4-BE49-F238E27FC236}">
                <a16:creationId xmlns:a16="http://schemas.microsoft.com/office/drawing/2014/main" id="{36100F5D-CCB6-53DA-6E2F-D97F578432E3}"/>
              </a:ext>
            </a:extLst>
          </p:cNvPr>
          <p:cNvSpPr txBox="1"/>
          <p:nvPr/>
        </p:nvSpPr>
        <p:spPr>
          <a:xfrm>
            <a:off x="7095744" y="3108960"/>
            <a:ext cx="694944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[58]</a:t>
            </a:r>
            <a:endParaRPr lang="zh-CN" altLang="en-US" sz="9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bar3-label">
            <a:extLst>
              <a:ext uri="{FF2B5EF4-FFF2-40B4-BE49-F238E27FC236}">
                <a16:creationId xmlns:a16="http://schemas.microsoft.com/office/drawing/2014/main" id="{1F682192-C549-E681-E44C-0D43DDDECC46}"/>
              </a:ext>
            </a:extLst>
          </p:cNvPr>
          <p:cNvSpPr txBox="1"/>
          <p:nvPr/>
        </p:nvSpPr>
        <p:spPr>
          <a:xfrm>
            <a:off x="1024128" y="3950208"/>
            <a:ext cx="1325880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[Our method]</a:t>
            </a:r>
            <a:endParaRPr lang="zh-CN" altLang="en-US" sz="900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bar3-track">
            <a:extLst>
              <a:ext uri="{FF2B5EF4-FFF2-40B4-BE49-F238E27FC236}">
                <a16:creationId xmlns:a16="http://schemas.microsoft.com/office/drawing/2014/main" id="{7D57A72B-03BE-E8C8-568A-9BAF1955C656}"/>
              </a:ext>
            </a:extLst>
          </p:cNvPr>
          <p:cNvSpPr/>
          <p:nvPr/>
        </p:nvSpPr>
        <p:spPr bwMode="auto">
          <a:xfrm>
            <a:off x="2578608" y="3904488"/>
            <a:ext cx="4343400" cy="420624"/>
          </a:xfrm>
          <a:prstGeom prst="rect">
            <a:avLst/>
          </a:prstGeom>
          <a:solidFill>
            <a:srgbClr val="E9F1F5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6" name="bar3-fill">
            <a:extLst>
              <a:ext uri="{FF2B5EF4-FFF2-40B4-BE49-F238E27FC236}">
                <a16:creationId xmlns:a16="http://schemas.microsoft.com/office/drawing/2014/main" id="{4EFC8626-4D0B-61D4-0A52-A6775823B21A}"/>
              </a:ext>
            </a:extLst>
          </p:cNvPr>
          <p:cNvSpPr/>
          <p:nvPr/>
        </p:nvSpPr>
        <p:spPr bwMode="auto">
          <a:xfrm>
            <a:off x="2578608" y="3904488"/>
            <a:ext cx="4343400" cy="420624"/>
          </a:xfrm>
          <a:prstGeom prst="rect">
            <a:avLst/>
          </a:prstGeom>
          <a:solidFill>
            <a:srgbClr val="008A9A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7" name="bar3-value">
            <a:extLst>
              <a:ext uri="{FF2B5EF4-FFF2-40B4-BE49-F238E27FC236}">
                <a16:creationId xmlns:a16="http://schemas.microsoft.com/office/drawing/2014/main" id="{117C4DE6-7579-A2A5-3AA1-4A8C5C4CA76E}"/>
              </a:ext>
            </a:extLst>
          </p:cNvPr>
          <p:cNvSpPr txBox="1"/>
          <p:nvPr/>
        </p:nvSpPr>
        <p:spPr>
          <a:xfrm>
            <a:off x="7095744" y="3950208"/>
            <a:ext cx="694944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[74]</a:t>
            </a:r>
            <a:endParaRPr lang="zh-CN" altLang="en-US" sz="9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bar4-label">
            <a:extLst>
              <a:ext uri="{FF2B5EF4-FFF2-40B4-BE49-F238E27FC236}">
                <a16:creationId xmlns:a16="http://schemas.microsoft.com/office/drawing/2014/main" id="{6AC9AF0E-F880-0828-0C2B-95E21E6BAB4F}"/>
              </a:ext>
            </a:extLst>
          </p:cNvPr>
          <p:cNvSpPr txBox="1"/>
          <p:nvPr/>
        </p:nvSpPr>
        <p:spPr>
          <a:xfrm>
            <a:off x="1024128" y="4791456"/>
            <a:ext cx="1325880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[Target]</a:t>
            </a:r>
            <a:endParaRPr lang="zh-CN" altLang="en-US" sz="900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bar4-track">
            <a:extLst>
              <a:ext uri="{FF2B5EF4-FFF2-40B4-BE49-F238E27FC236}">
                <a16:creationId xmlns:a16="http://schemas.microsoft.com/office/drawing/2014/main" id="{3D420546-FB44-04EE-FB27-E60807A03147}"/>
              </a:ext>
            </a:extLst>
          </p:cNvPr>
          <p:cNvSpPr/>
          <p:nvPr/>
        </p:nvSpPr>
        <p:spPr bwMode="auto">
          <a:xfrm>
            <a:off x="2578608" y="4818888"/>
            <a:ext cx="4343400" cy="274320"/>
          </a:xfrm>
          <a:prstGeom prst="rect">
            <a:avLst/>
          </a:prstGeom>
          <a:solidFill>
            <a:srgbClr val="E9F1F5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" name="bar4-fill">
            <a:extLst>
              <a:ext uri="{FF2B5EF4-FFF2-40B4-BE49-F238E27FC236}">
                <a16:creationId xmlns:a16="http://schemas.microsoft.com/office/drawing/2014/main" id="{48EEE30D-39F1-D4C2-D8D0-918FA295119D}"/>
              </a:ext>
            </a:extLst>
          </p:cNvPr>
          <p:cNvSpPr/>
          <p:nvPr/>
        </p:nvSpPr>
        <p:spPr bwMode="auto">
          <a:xfrm>
            <a:off x="2578608" y="4818888"/>
            <a:ext cx="4343400" cy="274320"/>
          </a:xfrm>
          <a:prstGeom prst="rect">
            <a:avLst/>
          </a:prstGeom>
          <a:solidFill>
            <a:srgbClr val="8FB0C3"/>
          </a:solidFill>
          <a:ln w="127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1" name="bar4-value">
            <a:extLst>
              <a:ext uri="{FF2B5EF4-FFF2-40B4-BE49-F238E27FC236}">
                <a16:creationId xmlns:a16="http://schemas.microsoft.com/office/drawing/2014/main" id="{506872CC-A566-DEF7-4C53-2F04CE48703D}"/>
              </a:ext>
            </a:extLst>
          </p:cNvPr>
          <p:cNvSpPr txBox="1"/>
          <p:nvPr/>
        </p:nvSpPr>
        <p:spPr>
          <a:xfrm>
            <a:off x="7095744" y="4791456"/>
            <a:ext cx="694944" cy="329184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[86]</a:t>
            </a:r>
            <a:endParaRPr lang="zh-CN" altLang="en-US" sz="9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bars-note1">
            <a:extLst>
              <a:ext uri="{FF2B5EF4-FFF2-40B4-BE49-F238E27FC236}">
                <a16:creationId xmlns:a16="http://schemas.microsoft.com/office/drawing/2014/main" id="{15656BBB-3E91-2126-C207-1BFA1E6F7046}"/>
              </a:ext>
            </a:extLst>
          </p:cNvPr>
          <p:cNvSpPr/>
          <p:nvPr/>
        </p:nvSpPr>
        <p:spPr bwMode="auto">
          <a:xfrm>
            <a:off x="8887968" y="1353312"/>
            <a:ext cx="2615184" cy="4663440"/>
          </a:xfrm>
          <a:prstGeom prst="roundRect">
            <a:avLst/>
          </a:prstGeom>
          <a:solidFill>
            <a:srgbClr val="EFF8F9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[Key finding 1]
[why the leading bar matters]</a:t>
            </a:r>
            <a:endParaRPr kumimoji="0" lang="zh-CN" altLang="en-US" sz="11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621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0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leaderboard_table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leaderboard-grid-r1c1">
            <a:extLst>
              <a:ext uri="{FF2B5EF4-FFF2-40B4-BE49-F238E27FC236}">
                <a16:creationId xmlns:a16="http://schemas.microsoft.com/office/drawing/2014/main" id="{24EA6E4D-8EEE-18F1-0C2D-7431196DEE22}"/>
              </a:ext>
            </a:extLst>
          </p:cNvPr>
          <p:cNvSpPr/>
          <p:nvPr/>
        </p:nvSpPr>
        <p:spPr bwMode="auto">
          <a:xfrm>
            <a:off x="685800" y="1389888"/>
            <a:ext cx="868680" cy="64008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Rank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leaderboard-grid-r1c2">
            <a:extLst>
              <a:ext uri="{FF2B5EF4-FFF2-40B4-BE49-F238E27FC236}">
                <a16:creationId xmlns:a16="http://schemas.microsoft.com/office/drawing/2014/main" id="{59A472D0-A092-1FB4-6E58-2CFD40378047}"/>
              </a:ext>
            </a:extLst>
          </p:cNvPr>
          <p:cNvSpPr/>
          <p:nvPr/>
        </p:nvSpPr>
        <p:spPr bwMode="auto">
          <a:xfrm>
            <a:off x="1554480" y="1389888"/>
            <a:ext cx="2057400" cy="64008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Method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" name="leaderboard-grid-r1c3">
            <a:extLst>
              <a:ext uri="{FF2B5EF4-FFF2-40B4-BE49-F238E27FC236}">
                <a16:creationId xmlns:a16="http://schemas.microsoft.com/office/drawing/2014/main" id="{D7D584BA-EF4D-3FEF-8456-CDE255AE7EF1}"/>
              </a:ext>
            </a:extLst>
          </p:cNvPr>
          <p:cNvSpPr/>
          <p:nvPr/>
        </p:nvSpPr>
        <p:spPr bwMode="auto">
          <a:xfrm>
            <a:off x="3611880" y="1389888"/>
            <a:ext cx="1325880" cy="64008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Score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5" name="leaderboard-grid-r1c4">
            <a:extLst>
              <a:ext uri="{FF2B5EF4-FFF2-40B4-BE49-F238E27FC236}">
                <a16:creationId xmlns:a16="http://schemas.microsoft.com/office/drawing/2014/main" id="{8EA5285A-A946-CEC7-71C0-925B8C597787}"/>
              </a:ext>
            </a:extLst>
          </p:cNvPr>
          <p:cNvSpPr/>
          <p:nvPr/>
        </p:nvSpPr>
        <p:spPr bwMode="auto">
          <a:xfrm>
            <a:off x="4937760" y="1389888"/>
            <a:ext cx="1234440" cy="64008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Cost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leaderboard-grid-r1c5">
            <a:extLst>
              <a:ext uri="{FF2B5EF4-FFF2-40B4-BE49-F238E27FC236}">
                <a16:creationId xmlns:a16="http://schemas.microsoft.com/office/drawing/2014/main" id="{47B0EB5F-C288-EA09-1787-B6E35F9A785B}"/>
              </a:ext>
            </a:extLst>
          </p:cNvPr>
          <p:cNvSpPr/>
          <p:nvPr/>
        </p:nvSpPr>
        <p:spPr bwMode="auto">
          <a:xfrm>
            <a:off x="6172200" y="1389888"/>
            <a:ext cx="2331720" cy="640080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Note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9" name="leaderboard-grid-r2c1">
            <a:extLst>
              <a:ext uri="{FF2B5EF4-FFF2-40B4-BE49-F238E27FC236}">
                <a16:creationId xmlns:a16="http://schemas.microsoft.com/office/drawing/2014/main" id="{A7D5186F-FD49-C402-D8E0-84805BE13691}"/>
              </a:ext>
            </a:extLst>
          </p:cNvPr>
          <p:cNvSpPr/>
          <p:nvPr/>
        </p:nvSpPr>
        <p:spPr bwMode="auto">
          <a:xfrm>
            <a:off x="685800" y="2029967"/>
            <a:ext cx="868680" cy="640080"/>
          </a:xfrm>
          <a:prstGeom prst="rect">
            <a:avLst/>
          </a:prstGeom>
          <a:solidFill>
            <a:srgbClr val="FFF1B8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#1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leaderboard-grid-r2c2">
            <a:extLst>
              <a:ext uri="{FF2B5EF4-FFF2-40B4-BE49-F238E27FC236}">
                <a16:creationId xmlns:a16="http://schemas.microsoft.com/office/drawing/2014/main" id="{E74452F2-197B-2AE0-2B55-5BD40F254550}"/>
              </a:ext>
            </a:extLst>
          </p:cNvPr>
          <p:cNvSpPr/>
          <p:nvPr/>
        </p:nvSpPr>
        <p:spPr bwMode="auto">
          <a:xfrm>
            <a:off x="1554480" y="2029967"/>
            <a:ext cx="2057400" cy="640080"/>
          </a:xfrm>
          <a:prstGeom prst="rect">
            <a:avLst/>
          </a:prstGeom>
          <a:solidFill>
            <a:srgbClr val="FFF1B8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[Our method]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1" name="leaderboard-grid-r2c3">
            <a:extLst>
              <a:ext uri="{FF2B5EF4-FFF2-40B4-BE49-F238E27FC236}">
                <a16:creationId xmlns:a16="http://schemas.microsoft.com/office/drawing/2014/main" id="{29B0CD75-7A62-257A-FF00-1D96A503FE2E}"/>
              </a:ext>
            </a:extLst>
          </p:cNvPr>
          <p:cNvSpPr/>
          <p:nvPr/>
        </p:nvSpPr>
        <p:spPr bwMode="auto">
          <a:xfrm>
            <a:off x="3611880" y="2029967"/>
            <a:ext cx="1325880" cy="640080"/>
          </a:xfrm>
          <a:prstGeom prst="rect">
            <a:avLst/>
          </a:prstGeom>
          <a:solidFill>
            <a:srgbClr val="FFF1B8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leaderboard-grid-r2c4">
            <a:extLst>
              <a:ext uri="{FF2B5EF4-FFF2-40B4-BE49-F238E27FC236}">
                <a16:creationId xmlns:a16="http://schemas.microsoft.com/office/drawing/2014/main" id="{E7F6A7F8-E15E-02A5-5C8A-3F404F0C42BF}"/>
              </a:ext>
            </a:extLst>
          </p:cNvPr>
          <p:cNvSpPr/>
          <p:nvPr/>
        </p:nvSpPr>
        <p:spPr bwMode="auto">
          <a:xfrm>
            <a:off x="4937760" y="2029967"/>
            <a:ext cx="1234440" cy="640080"/>
          </a:xfrm>
          <a:prstGeom prst="rect">
            <a:avLst/>
          </a:prstGeom>
          <a:solidFill>
            <a:srgbClr val="FFF1B8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[low]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leaderboard-grid-r2c5">
            <a:extLst>
              <a:ext uri="{FF2B5EF4-FFF2-40B4-BE49-F238E27FC236}">
                <a16:creationId xmlns:a16="http://schemas.microsoft.com/office/drawing/2014/main" id="{6502CB81-0419-85F1-129F-4F57765BD66D}"/>
              </a:ext>
            </a:extLst>
          </p:cNvPr>
          <p:cNvSpPr/>
          <p:nvPr/>
        </p:nvSpPr>
        <p:spPr bwMode="auto">
          <a:xfrm>
            <a:off x="6172200" y="2029967"/>
            <a:ext cx="2331720" cy="640080"/>
          </a:xfrm>
          <a:prstGeom prst="rect">
            <a:avLst/>
          </a:prstGeom>
          <a:solidFill>
            <a:srgbClr val="FFF1B8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[highlight]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leaderboard-grid-r3c1">
            <a:extLst>
              <a:ext uri="{FF2B5EF4-FFF2-40B4-BE49-F238E27FC236}">
                <a16:creationId xmlns:a16="http://schemas.microsoft.com/office/drawing/2014/main" id="{E44BD306-5E38-5874-3649-3FAA6BCB0107}"/>
              </a:ext>
            </a:extLst>
          </p:cNvPr>
          <p:cNvSpPr/>
          <p:nvPr/>
        </p:nvSpPr>
        <p:spPr bwMode="auto">
          <a:xfrm>
            <a:off x="685800" y="2670048"/>
            <a:ext cx="86868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#2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leaderboard-grid-r3c2">
            <a:extLst>
              <a:ext uri="{FF2B5EF4-FFF2-40B4-BE49-F238E27FC236}">
                <a16:creationId xmlns:a16="http://schemas.microsoft.com/office/drawing/2014/main" id="{2D9FA2F4-0F67-E813-5BD4-C914CE0BD188}"/>
              </a:ext>
            </a:extLst>
          </p:cNvPr>
          <p:cNvSpPr/>
          <p:nvPr/>
        </p:nvSpPr>
        <p:spPr bwMode="auto">
          <a:xfrm>
            <a:off x="1554480" y="2670048"/>
            <a:ext cx="205740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[Baseline 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leaderboard-grid-r3c3">
            <a:extLst>
              <a:ext uri="{FF2B5EF4-FFF2-40B4-BE49-F238E27FC236}">
                <a16:creationId xmlns:a16="http://schemas.microsoft.com/office/drawing/2014/main" id="{5EAB924B-D858-D447-B8BE-D7BBBD2363BC}"/>
              </a:ext>
            </a:extLst>
          </p:cNvPr>
          <p:cNvSpPr/>
          <p:nvPr/>
        </p:nvSpPr>
        <p:spPr bwMode="auto">
          <a:xfrm>
            <a:off x="3611880" y="2670048"/>
            <a:ext cx="132588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7" name="leaderboard-grid-r3c4">
            <a:extLst>
              <a:ext uri="{FF2B5EF4-FFF2-40B4-BE49-F238E27FC236}">
                <a16:creationId xmlns:a16="http://schemas.microsoft.com/office/drawing/2014/main" id="{E8E90A74-F9BC-847C-80E9-1372181A630D}"/>
              </a:ext>
            </a:extLst>
          </p:cNvPr>
          <p:cNvSpPr/>
          <p:nvPr/>
        </p:nvSpPr>
        <p:spPr bwMode="auto">
          <a:xfrm>
            <a:off x="4937760" y="2670048"/>
            <a:ext cx="123444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[mid]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8" name="leaderboard-grid-r3c5">
            <a:extLst>
              <a:ext uri="{FF2B5EF4-FFF2-40B4-BE49-F238E27FC236}">
                <a16:creationId xmlns:a16="http://schemas.microsoft.com/office/drawing/2014/main" id="{55BF1A2D-0D7D-74B5-42C5-B7F69DDF30EA}"/>
              </a:ext>
            </a:extLst>
          </p:cNvPr>
          <p:cNvSpPr/>
          <p:nvPr/>
        </p:nvSpPr>
        <p:spPr bwMode="auto">
          <a:xfrm>
            <a:off x="6172200" y="2670048"/>
            <a:ext cx="233172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[note]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9" name="leaderboard-grid-r4c1">
            <a:extLst>
              <a:ext uri="{FF2B5EF4-FFF2-40B4-BE49-F238E27FC236}">
                <a16:creationId xmlns:a16="http://schemas.microsoft.com/office/drawing/2014/main" id="{CE73FB3B-1EDA-4689-E23D-65217265E6F9}"/>
              </a:ext>
            </a:extLst>
          </p:cNvPr>
          <p:cNvSpPr/>
          <p:nvPr/>
        </p:nvSpPr>
        <p:spPr bwMode="auto">
          <a:xfrm>
            <a:off x="685800" y="3310127"/>
            <a:ext cx="868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#3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leaderboard-grid-r4c2">
            <a:extLst>
              <a:ext uri="{FF2B5EF4-FFF2-40B4-BE49-F238E27FC236}">
                <a16:creationId xmlns:a16="http://schemas.microsoft.com/office/drawing/2014/main" id="{9EF58117-DD68-2A1F-E5F0-5529C0650407}"/>
              </a:ext>
            </a:extLst>
          </p:cNvPr>
          <p:cNvSpPr/>
          <p:nvPr/>
        </p:nvSpPr>
        <p:spPr bwMode="auto">
          <a:xfrm>
            <a:off x="1554480" y="3310127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[Baseline B]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1" name="leaderboard-grid-r4c3">
            <a:extLst>
              <a:ext uri="{FF2B5EF4-FFF2-40B4-BE49-F238E27FC236}">
                <a16:creationId xmlns:a16="http://schemas.microsoft.com/office/drawing/2014/main" id="{344AAABB-017F-4493-1A4B-1AB1C03B185E}"/>
              </a:ext>
            </a:extLst>
          </p:cNvPr>
          <p:cNvSpPr/>
          <p:nvPr/>
        </p:nvSpPr>
        <p:spPr bwMode="auto">
          <a:xfrm>
            <a:off x="3611880" y="3310127"/>
            <a:ext cx="13258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2" name="leaderboard-grid-r4c4">
            <a:extLst>
              <a:ext uri="{FF2B5EF4-FFF2-40B4-BE49-F238E27FC236}">
                <a16:creationId xmlns:a16="http://schemas.microsoft.com/office/drawing/2014/main" id="{A58B4639-54CA-4E2C-C877-73B8778874B4}"/>
              </a:ext>
            </a:extLst>
          </p:cNvPr>
          <p:cNvSpPr/>
          <p:nvPr/>
        </p:nvSpPr>
        <p:spPr bwMode="auto">
          <a:xfrm>
            <a:off x="4937760" y="3310127"/>
            <a:ext cx="123444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[mid]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3" name="leaderboard-grid-r4c5">
            <a:extLst>
              <a:ext uri="{FF2B5EF4-FFF2-40B4-BE49-F238E27FC236}">
                <a16:creationId xmlns:a16="http://schemas.microsoft.com/office/drawing/2014/main" id="{862D86D3-E1C5-7F0D-4D32-2DD0C0AA1810}"/>
              </a:ext>
            </a:extLst>
          </p:cNvPr>
          <p:cNvSpPr/>
          <p:nvPr/>
        </p:nvSpPr>
        <p:spPr bwMode="auto">
          <a:xfrm>
            <a:off x="6172200" y="3310127"/>
            <a:ext cx="23317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[note]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leaderboard-grid-r5c1">
            <a:extLst>
              <a:ext uri="{FF2B5EF4-FFF2-40B4-BE49-F238E27FC236}">
                <a16:creationId xmlns:a16="http://schemas.microsoft.com/office/drawing/2014/main" id="{9BE2916B-F513-FD49-314D-3061C6253AB6}"/>
              </a:ext>
            </a:extLst>
          </p:cNvPr>
          <p:cNvSpPr/>
          <p:nvPr/>
        </p:nvSpPr>
        <p:spPr bwMode="auto">
          <a:xfrm>
            <a:off x="685800" y="3950208"/>
            <a:ext cx="86868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#4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5" name="leaderboard-grid-r5c2">
            <a:extLst>
              <a:ext uri="{FF2B5EF4-FFF2-40B4-BE49-F238E27FC236}">
                <a16:creationId xmlns:a16="http://schemas.microsoft.com/office/drawing/2014/main" id="{7125B6D0-0D4E-7F70-5435-15F57865F25B}"/>
              </a:ext>
            </a:extLst>
          </p:cNvPr>
          <p:cNvSpPr/>
          <p:nvPr/>
        </p:nvSpPr>
        <p:spPr bwMode="auto">
          <a:xfrm>
            <a:off x="1554480" y="3950208"/>
            <a:ext cx="205740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[Baseline C]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6" name="leaderboard-grid-r5c3">
            <a:extLst>
              <a:ext uri="{FF2B5EF4-FFF2-40B4-BE49-F238E27FC236}">
                <a16:creationId xmlns:a16="http://schemas.microsoft.com/office/drawing/2014/main" id="{3FEE25FC-6F6D-AE98-B010-90C475436D4E}"/>
              </a:ext>
            </a:extLst>
          </p:cNvPr>
          <p:cNvSpPr/>
          <p:nvPr/>
        </p:nvSpPr>
        <p:spPr bwMode="auto">
          <a:xfrm>
            <a:off x="3611880" y="3950208"/>
            <a:ext cx="132588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7" name="leaderboard-grid-r5c4">
            <a:extLst>
              <a:ext uri="{FF2B5EF4-FFF2-40B4-BE49-F238E27FC236}">
                <a16:creationId xmlns:a16="http://schemas.microsoft.com/office/drawing/2014/main" id="{BBF0C3C8-B49A-C93A-2156-F9B5392D3478}"/>
              </a:ext>
            </a:extLst>
          </p:cNvPr>
          <p:cNvSpPr/>
          <p:nvPr/>
        </p:nvSpPr>
        <p:spPr bwMode="auto">
          <a:xfrm>
            <a:off x="4937760" y="3950208"/>
            <a:ext cx="123444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[high]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8" name="leaderboard-grid-r5c5">
            <a:extLst>
              <a:ext uri="{FF2B5EF4-FFF2-40B4-BE49-F238E27FC236}">
                <a16:creationId xmlns:a16="http://schemas.microsoft.com/office/drawing/2014/main" id="{D902DA73-26FC-6008-9A09-A2449042B9F5}"/>
              </a:ext>
            </a:extLst>
          </p:cNvPr>
          <p:cNvSpPr/>
          <p:nvPr/>
        </p:nvSpPr>
        <p:spPr bwMode="auto">
          <a:xfrm>
            <a:off x="6172200" y="3950208"/>
            <a:ext cx="233172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[note]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9" name="leaderboard-grid-r6c1">
            <a:extLst>
              <a:ext uri="{FF2B5EF4-FFF2-40B4-BE49-F238E27FC236}">
                <a16:creationId xmlns:a16="http://schemas.microsoft.com/office/drawing/2014/main" id="{9DC746AA-D986-3AB2-3C87-96A0EE8CEC66}"/>
              </a:ext>
            </a:extLst>
          </p:cNvPr>
          <p:cNvSpPr/>
          <p:nvPr/>
        </p:nvSpPr>
        <p:spPr bwMode="auto">
          <a:xfrm>
            <a:off x="685800" y="4590288"/>
            <a:ext cx="868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#5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0" name="leaderboard-grid-r6c2">
            <a:extLst>
              <a:ext uri="{FF2B5EF4-FFF2-40B4-BE49-F238E27FC236}">
                <a16:creationId xmlns:a16="http://schemas.microsoft.com/office/drawing/2014/main" id="{B02E2491-FABF-F2A1-E1A1-E57BEE440613}"/>
              </a:ext>
            </a:extLst>
          </p:cNvPr>
          <p:cNvSpPr/>
          <p:nvPr/>
        </p:nvSpPr>
        <p:spPr bwMode="auto">
          <a:xfrm>
            <a:off x="1554480" y="4590288"/>
            <a:ext cx="2057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[Baseline D]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1" name="leaderboard-grid-r6c3">
            <a:extLst>
              <a:ext uri="{FF2B5EF4-FFF2-40B4-BE49-F238E27FC236}">
                <a16:creationId xmlns:a16="http://schemas.microsoft.com/office/drawing/2014/main" id="{482C77A1-91DD-871D-4F35-D127E8E98658}"/>
              </a:ext>
            </a:extLst>
          </p:cNvPr>
          <p:cNvSpPr/>
          <p:nvPr/>
        </p:nvSpPr>
        <p:spPr bwMode="auto">
          <a:xfrm>
            <a:off x="3611880" y="4590288"/>
            <a:ext cx="13258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2" name="leaderboard-grid-r6c4">
            <a:extLst>
              <a:ext uri="{FF2B5EF4-FFF2-40B4-BE49-F238E27FC236}">
                <a16:creationId xmlns:a16="http://schemas.microsoft.com/office/drawing/2014/main" id="{FB483AC6-94C5-37AE-40E1-E9F1CBDFAED3}"/>
              </a:ext>
            </a:extLst>
          </p:cNvPr>
          <p:cNvSpPr/>
          <p:nvPr/>
        </p:nvSpPr>
        <p:spPr bwMode="auto">
          <a:xfrm>
            <a:off x="4937760" y="4590288"/>
            <a:ext cx="123444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[high]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3" name="leaderboard-grid-r6c5">
            <a:extLst>
              <a:ext uri="{FF2B5EF4-FFF2-40B4-BE49-F238E27FC236}">
                <a16:creationId xmlns:a16="http://schemas.microsoft.com/office/drawing/2014/main" id="{542D0CC2-BBCD-99DE-5C4E-E8F95A651BF8}"/>
              </a:ext>
            </a:extLst>
          </p:cNvPr>
          <p:cNvSpPr/>
          <p:nvPr/>
        </p:nvSpPr>
        <p:spPr bwMode="auto">
          <a:xfrm>
            <a:off x="6172200" y="4590288"/>
            <a:ext cx="23317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[note]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4" name="leaderboard-grid-r7c1">
            <a:extLst>
              <a:ext uri="{FF2B5EF4-FFF2-40B4-BE49-F238E27FC236}">
                <a16:creationId xmlns:a16="http://schemas.microsoft.com/office/drawing/2014/main" id="{7441094E-BE4C-846C-177A-34241741E3DD}"/>
              </a:ext>
            </a:extLst>
          </p:cNvPr>
          <p:cNvSpPr/>
          <p:nvPr/>
        </p:nvSpPr>
        <p:spPr bwMode="auto">
          <a:xfrm>
            <a:off x="685800" y="5230367"/>
            <a:ext cx="86868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#6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5" name="leaderboard-grid-r7c2">
            <a:extLst>
              <a:ext uri="{FF2B5EF4-FFF2-40B4-BE49-F238E27FC236}">
                <a16:creationId xmlns:a16="http://schemas.microsoft.com/office/drawing/2014/main" id="{3B2A1CC0-EBB4-8621-8FE9-E6D7C44ED6DE}"/>
              </a:ext>
            </a:extLst>
          </p:cNvPr>
          <p:cNvSpPr/>
          <p:nvPr/>
        </p:nvSpPr>
        <p:spPr bwMode="auto">
          <a:xfrm>
            <a:off x="1554480" y="5230367"/>
            <a:ext cx="205740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[Ablated]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6" name="leaderboard-grid-r7c3">
            <a:extLst>
              <a:ext uri="{FF2B5EF4-FFF2-40B4-BE49-F238E27FC236}">
                <a16:creationId xmlns:a16="http://schemas.microsoft.com/office/drawing/2014/main" id="{7AE65D1B-D856-8CB8-9DC4-0B11DA4007C8}"/>
              </a:ext>
            </a:extLst>
          </p:cNvPr>
          <p:cNvSpPr/>
          <p:nvPr/>
        </p:nvSpPr>
        <p:spPr bwMode="auto">
          <a:xfrm>
            <a:off x="3611880" y="5230367"/>
            <a:ext cx="132588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7" name="leaderboard-grid-r7c4">
            <a:extLst>
              <a:ext uri="{FF2B5EF4-FFF2-40B4-BE49-F238E27FC236}">
                <a16:creationId xmlns:a16="http://schemas.microsoft.com/office/drawing/2014/main" id="{6B84E132-EED8-8145-B9D5-A769263A8091}"/>
              </a:ext>
            </a:extLst>
          </p:cNvPr>
          <p:cNvSpPr/>
          <p:nvPr/>
        </p:nvSpPr>
        <p:spPr bwMode="auto">
          <a:xfrm>
            <a:off x="4937760" y="5230367"/>
            <a:ext cx="123444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[low]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8" name="leaderboard-grid-r7c5">
            <a:extLst>
              <a:ext uri="{FF2B5EF4-FFF2-40B4-BE49-F238E27FC236}">
                <a16:creationId xmlns:a16="http://schemas.microsoft.com/office/drawing/2014/main" id="{2122F8F9-44B2-B940-B272-934FFA342C27}"/>
              </a:ext>
            </a:extLst>
          </p:cNvPr>
          <p:cNvSpPr/>
          <p:nvPr/>
        </p:nvSpPr>
        <p:spPr bwMode="auto">
          <a:xfrm>
            <a:off x="6172200" y="5230367"/>
            <a:ext cx="2331720" cy="640080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[note]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9" name="leader-note1">
            <a:extLst>
              <a:ext uri="{FF2B5EF4-FFF2-40B4-BE49-F238E27FC236}">
                <a16:creationId xmlns:a16="http://schemas.microsoft.com/office/drawing/2014/main" id="{1045346B-35A8-F713-8E87-AF1C39F00536}"/>
              </a:ext>
            </a:extLst>
          </p:cNvPr>
          <p:cNvSpPr/>
          <p:nvPr/>
        </p:nvSpPr>
        <p:spPr bwMode="auto">
          <a:xfrm>
            <a:off x="9006840" y="1389888"/>
            <a:ext cx="2496312" cy="4590288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[Winner signal]
[one concise reason]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35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1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ablation_matrix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ablation-grid-r1c1">
            <a:extLst>
              <a:ext uri="{FF2B5EF4-FFF2-40B4-BE49-F238E27FC236}">
                <a16:creationId xmlns:a16="http://schemas.microsoft.com/office/drawing/2014/main" id="{55039EED-D665-9481-772E-8C14ABCDD2BA}"/>
              </a:ext>
            </a:extLst>
          </p:cNvPr>
          <p:cNvSpPr/>
          <p:nvPr/>
        </p:nvSpPr>
        <p:spPr bwMode="auto">
          <a:xfrm>
            <a:off x="685800" y="1353312"/>
            <a:ext cx="1257300" cy="74980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Variant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ablation-grid-r1c2">
            <a:extLst>
              <a:ext uri="{FF2B5EF4-FFF2-40B4-BE49-F238E27FC236}">
                <a16:creationId xmlns:a16="http://schemas.microsoft.com/office/drawing/2014/main" id="{BB76A8BF-B8C9-FC16-18A2-E1A139B06C35}"/>
              </a:ext>
            </a:extLst>
          </p:cNvPr>
          <p:cNvSpPr/>
          <p:nvPr/>
        </p:nvSpPr>
        <p:spPr bwMode="auto">
          <a:xfrm>
            <a:off x="1943100" y="1353312"/>
            <a:ext cx="1257300" cy="74980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Module A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" name="ablation-grid-r1c3">
            <a:extLst>
              <a:ext uri="{FF2B5EF4-FFF2-40B4-BE49-F238E27FC236}">
                <a16:creationId xmlns:a16="http://schemas.microsoft.com/office/drawing/2014/main" id="{2667CE65-3B7B-7D12-5EFC-3C07F4AD8655}"/>
              </a:ext>
            </a:extLst>
          </p:cNvPr>
          <p:cNvSpPr/>
          <p:nvPr/>
        </p:nvSpPr>
        <p:spPr bwMode="auto">
          <a:xfrm>
            <a:off x="3200400" y="1353312"/>
            <a:ext cx="1257300" cy="74980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Module B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5" name="ablation-grid-r1c4">
            <a:extLst>
              <a:ext uri="{FF2B5EF4-FFF2-40B4-BE49-F238E27FC236}">
                <a16:creationId xmlns:a16="http://schemas.microsoft.com/office/drawing/2014/main" id="{01EB6A45-1C28-C7C5-5657-FB971CEDC3E4}"/>
              </a:ext>
            </a:extLst>
          </p:cNvPr>
          <p:cNvSpPr/>
          <p:nvPr/>
        </p:nvSpPr>
        <p:spPr bwMode="auto">
          <a:xfrm>
            <a:off x="4457700" y="1353312"/>
            <a:ext cx="1257300" cy="74980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Module C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ablation-grid-r1c5">
            <a:extLst>
              <a:ext uri="{FF2B5EF4-FFF2-40B4-BE49-F238E27FC236}">
                <a16:creationId xmlns:a16="http://schemas.microsoft.com/office/drawing/2014/main" id="{EF1F6E3A-DE3C-4B44-12A7-9C465C91526E}"/>
              </a:ext>
            </a:extLst>
          </p:cNvPr>
          <p:cNvSpPr/>
          <p:nvPr/>
        </p:nvSpPr>
        <p:spPr bwMode="auto">
          <a:xfrm>
            <a:off x="5715000" y="1353312"/>
            <a:ext cx="1257300" cy="74980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Score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9" name="ablation-grid-r1c6">
            <a:extLst>
              <a:ext uri="{FF2B5EF4-FFF2-40B4-BE49-F238E27FC236}">
                <a16:creationId xmlns:a16="http://schemas.microsoft.com/office/drawing/2014/main" id="{C9001C00-6A89-6679-A6D8-29E0BC46E347}"/>
              </a:ext>
            </a:extLst>
          </p:cNvPr>
          <p:cNvSpPr/>
          <p:nvPr/>
        </p:nvSpPr>
        <p:spPr bwMode="auto">
          <a:xfrm>
            <a:off x="6972300" y="1353312"/>
            <a:ext cx="1257300" cy="74980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Delta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ablation-grid-r2c1">
            <a:extLst>
              <a:ext uri="{FF2B5EF4-FFF2-40B4-BE49-F238E27FC236}">
                <a16:creationId xmlns:a16="http://schemas.microsoft.com/office/drawing/2014/main" id="{0EBA0F22-39C0-198B-A6D8-EE4797F3998C}"/>
              </a:ext>
            </a:extLst>
          </p:cNvPr>
          <p:cNvSpPr/>
          <p:nvPr/>
        </p:nvSpPr>
        <p:spPr bwMode="auto">
          <a:xfrm>
            <a:off x="685800" y="2103120"/>
            <a:ext cx="1257300" cy="749808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Full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1" name="ablation-grid-r2c2">
            <a:extLst>
              <a:ext uri="{FF2B5EF4-FFF2-40B4-BE49-F238E27FC236}">
                <a16:creationId xmlns:a16="http://schemas.microsoft.com/office/drawing/2014/main" id="{49B23208-9493-1373-5399-60E61FB1B575}"/>
              </a:ext>
            </a:extLst>
          </p:cNvPr>
          <p:cNvSpPr/>
          <p:nvPr/>
        </p:nvSpPr>
        <p:spPr bwMode="auto">
          <a:xfrm>
            <a:off x="1943100" y="2103120"/>
            <a:ext cx="1257300" cy="749808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ablation-grid-r2c3">
            <a:extLst>
              <a:ext uri="{FF2B5EF4-FFF2-40B4-BE49-F238E27FC236}">
                <a16:creationId xmlns:a16="http://schemas.microsoft.com/office/drawing/2014/main" id="{82F35D54-9D63-A255-E1F5-7BD4A7A21551}"/>
              </a:ext>
            </a:extLst>
          </p:cNvPr>
          <p:cNvSpPr/>
          <p:nvPr/>
        </p:nvSpPr>
        <p:spPr bwMode="auto">
          <a:xfrm>
            <a:off x="3200400" y="2103120"/>
            <a:ext cx="1257300" cy="749808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ablation-grid-r2c4">
            <a:extLst>
              <a:ext uri="{FF2B5EF4-FFF2-40B4-BE49-F238E27FC236}">
                <a16:creationId xmlns:a16="http://schemas.microsoft.com/office/drawing/2014/main" id="{ED97AE9D-7400-E58A-738B-807ABECDF11F}"/>
              </a:ext>
            </a:extLst>
          </p:cNvPr>
          <p:cNvSpPr/>
          <p:nvPr/>
        </p:nvSpPr>
        <p:spPr bwMode="auto">
          <a:xfrm>
            <a:off x="4457700" y="2103120"/>
            <a:ext cx="1257300" cy="749808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ablation-grid-r2c5">
            <a:extLst>
              <a:ext uri="{FF2B5EF4-FFF2-40B4-BE49-F238E27FC236}">
                <a16:creationId xmlns:a16="http://schemas.microsoft.com/office/drawing/2014/main" id="{7618E0E6-2434-811B-F27E-5B47C2AC6DF9}"/>
              </a:ext>
            </a:extLst>
          </p:cNvPr>
          <p:cNvSpPr/>
          <p:nvPr/>
        </p:nvSpPr>
        <p:spPr bwMode="auto">
          <a:xfrm>
            <a:off x="5715000" y="2103120"/>
            <a:ext cx="1257300" cy="749808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ablation-grid-r2c6">
            <a:extLst>
              <a:ext uri="{FF2B5EF4-FFF2-40B4-BE49-F238E27FC236}">
                <a16:creationId xmlns:a16="http://schemas.microsoft.com/office/drawing/2014/main" id="{5F3F0C06-C4D2-5D88-6E0E-A13B6E21FE79}"/>
              </a:ext>
            </a:extLst>
          </p:cNvPr>
          <p:cNvSpPr/>
          <p:nvPr/>
        </p:nvSpPr>
        <p:spPr bwMode="auto">
          <a:xfrm>
            <a:off x="6972300" y="2103120"/>
            <a:ext cx="1257300" cy="749808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-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ablation-grid-r3c1">
            <a:extLst>
              <a:ext uri="{FF2B5EF4-FFF2-40B4-BE49-F238E27FC236}">
                <a16:creationId xmlns:a16="http://schemas.microsoft.com/office/drawing/2014/main" id="{EBB2AA65-3B73-F332-8C79-E68C7EE32BC1}"/>
              </a:ext>
            </a:extLst>
          </p:cNvPr>
          <p:cNvSpPr/>
          <p:nvPr/>
        </p:nvSpPr>
        <p:spPr bwMode="auto">
          <a:xfrm>
            <a:off x="685800" y="2852928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w/o A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7" name="ablation-grid-r3c2">
            <a:extLst>
              <a:ext uri="{FF2B5EF4-FFF2-40B4-BE49-F238E27FC236}">
                <a16:creationId xmlns:a16="http://schemas.microsoft.com/office/drawing/2014/main" id="{F6E33BA2-F102-D404-56B7-22CEF63CBFA0}"/>
              </a:ext>
            </a:extLst>
          </p:cNvPr>
          <p:cNvSpPr/>
          <p:nvPr/>
        </p:nvSpPr>
        <p:spPr bwMode="auto">
          <a:xfrm>
            <a:off x="1943100" y="2852928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off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8" name="ablation-grid-r3c3">
            <a:extLst>
              <a:ext uri="{FF2B5EF4-FFF2-40B4-BE49-F238E27FC236}">
                <a16:creationId xmlns:a16="http://schemas.microsoft.com/office/drawing/2014/main" id="{2D34DCFA-FE4A-EF44-4D6F-9A010B1EACE5}"/>
              </a:ext>
            </a:extLst>
          </p:cNvPr>
          <p:cNvSpPr/>
          <p:nvPr/>
        </p:nvSpPr>
        <p:spPr bwMode="auto">
          <a:xfrm>
            <a:off x="3200400" y="2852928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9" name="ablation-grid-r3c4">
            <a:extLst>
              <a:ext uri="{FF2B5EF4-FFF2-40B4-BE49-F238E27FC236}">
                <a16:creationId xmlns:a16="http://schemas.microsoft.com/office/drawing/2014/main" id="{B37A5B8F-194E-DC3B-4865-350E906C3179}"/>
              </a:ext>
            </a:extLst>
          </p:cNvPr>
          <p:cNvSpPr/>
          <p:nvPr/>
        </p:nvSpPr>
        <p:spPr bwMode="auto">
          <a:xfrm>
            <a:off x="4457700" y="2852928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ablation-grid-r3c5">
            <a:extLst>
              <a:ext uri="{FF2B5EF4-FFF2-40B4-BE49-F238E27FC236}">
                <a16:creationId xmlns:a16="http://schemas.microsoft.com/office/drawing/2014/main" id="{CEDDBAA2-3600-115E-15B2-963780C7883B}"/>
              </a:ext>
            </a:extLst>
          </p:cNvPr>
          <p:cNvSpPr/>
          <p:nvPr/>
        </p:nvSpPr>
        <p:spPr bwMode="auto">
          <a:xfrm>
            <a:off x="5715000" y="2852928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1" name="ablation-grid-r3c6">
            <a:extLst>
              <a:ext uri="{FF2B5EF4-FFF2-40B4-BE49-F238E27FC236}">
                <a16:creationId xmlns:a16="http://schemas.microsoft.com/office/drawing/2014/main" id="{A6C89732-5A7F-AD52-7BCF-DC093491D96A}"/>
              </a:ext>
            </a:extLst>
          </p:cNvPr>
          <p:cNvSpPr/>
          <p:nvPr/>
        </p:nvSpPr>
        <p:spPr bwMode="auto">
          <a:xfrm>
            <a:off x="6972300" y="2852928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[-X.X]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2" name="ablation-grid-r4c1">
            <a:extLst>
              <a:ext uri="{FF2B5EF4-FFF2-40B4-BE49-F238E27FC236}">
                <a16:creationId xmlns:a16="http://schemas.microsoft.com/office/drawing/2014/main" id="{5763B082-4A19-3B5F-0219-B765ED6DC3B6}"/>
              </a:ext>
            </a:extLst>
          </p:cNvPr>
          <p:cNvSpPr/>
          <p:nvPr/>
        </p:nvSpPr>
        <p:spPr bwMode="auto">
          <a:xfrm>
            <a:off x="685800" y="3602736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w/o B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3" name="ablation-grid-r4c2">
            <a:extLst>
              <a:ext uri="{FF2B5EF4-FFF2-40B4-BE49-F238E27FC236}">
                <a16:creationId xmlns:a16="http://schemas.microsoft.com/office/drawing/2014/main" id="{BA467F47-BC2C-260A-C6BB-871C1CD2DD99}"/>
              </a:ext>
            </a:extLst>
          </p:cNvPr>
          <p:cNvSpPr/>
          <p:nvPr/>
        </p:nvSpPr>
        <p:spPr bwMode="auto">
          <a:xfrm>
            <a:off x="1943100" y="3602736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ablation-grid-r4c3">
            <a:extLst>
              <a:ext uri="{FF2B5EF4-FFF2-40B4-BE49-F238E27FC236}">
                <a16:creationId xmlns:a16="http://schemas.microsoft.com/office/drawing/2014/main" id="{2DD87312-1910-FA40-6DC4-416FA5085A5B}"/>
              </a:ext>
            </a:extLst>
          </p:cNvPr>
          <p:cNvSpPr/>
          <p:nvPr/>
        </p:nvSpPr>
        <p:spPr bwMode="auto">
          <a:xfrm>
            <a:off x="3200400" y="3602736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off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5" name="ablation-grid-r4c4">
            <a:extLst>
              <a:ext uri="{FF2B5EF4-FFF2-40B4-BE49-F238E27FC236}">
                <a16:creationId xmlns:a16="http://schemas.microsoft.com/office/drawing/2014/main" id="{F980BB37-D755-4C64-D70B-38DC19CC37EC}"/>
              </a:ext>
            </a:extLst>
          </p:cNvPr>
          <p:cNvSpPr/>
          <p:nvPr/>
        </p:nvSpPr>
        <p:spPr bwMode="auto">
          <a:xfrm>
            <a:off x="4457700" y="3602736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6" name="ablation-grid-r4c5">
            <a:extLst>
              <a:ext uri="{FF2B5EF4-FFF2-40B4-BE49-F238E27FC236}">
                <a16:creationId xmlns:a16="http://schemas.microsoft.com/office/drawing/2014/main" id="{50EBCAFB-04BF-6FB0-A09C-F4D50E15162E}"/>
              </a:ext>
            </a:extLst>
          </p:cNvPr>
          <p:cNvSpPr/>
          <p:nvPr/>
        </p:nvSpPr>
        <p:spPr bwMode="auto">
          <a:xfrm>
            <a:off x="5715000" y="3602736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7" name="ablation-grid-r4c6">
            <a:extLst>
              <a:ext uri="{FF2B5EF4-FFF2-40B4-BE49-F238E27FC236}">
                <a16:creationId xmlns:a16="http://schemas.microsoft.com/office/drawing/2014/main" id="{F13D6157-D018-49D9-F138-B7A70061254E}"/>
              </a:ext>
            </a:extLst>
          </p:cNvPr>
          <p:cNvSpPr/>
          <p:nvPr/>
        </p:nvSpPr>
        <p:spPr bwMode="auto">
          <a:xfrm>
            <a:off x="6972300" y="3602736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[-X.X]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8" name="ablation-grid-r5c1">
            <a:extLst>
              <a:ext uri="{FF2B5EF4-FFF2-40B4-BE49-F238E27FC236}">
                <a16:creationId xmlns:a16="http://schemas.microsoft.com/office/drawing/2014/main" id="{ED6FEF7F-9EFA-3864-EE5D-69878657805A}"/>
              </a:ext>
            </a:extLst>
          </p:cNvPr>
          <p:cNvSpPr/>
          <p:nvPr/>
        </p:nvSpPr>
        <p:spPr bwMode="auto">
          <a:xfrm>
            <a:off x="685800" y="4352544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w/o C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9" name="ablation-grid-r5c2">
            <a:extLst>
              <a:ext uri="{FF2B5EF4-FFF2-40B4-BE49-F238E27FC236}">
                <a16:creationId xmlns:a16="http://schemas.microsoft.com/office/drawing/2014/main" id="{81811C8F-E0F3-116F-D3F1-494BB60162D2}"/>
              </a:ext>
            </a:extLst>
          </p:cNvPr>
          <p:cNvSpPr/>
          <p:nvPr/>
        </p:nvSpPr>
        <p:spPr bwMode="auto">
          <a:xfrm>
            <a:off x="1943100" y="4352544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0" name="ablation-grid-r5c3">
            <a:extLst>
              <a:ext uri="{FF2B5EF4-FFF2-40B4-BE49-F238E27FC236}">
                <a16:creationId xmlns:a16="http://schemas.microsoft.com/office/drawing/2014/main" id="{9738346B-E8D9-FAB4-2A41-084BC5AECDEF}"/>
              </a:ext>
            </a:extLst>
          </p:cNvPr>
          <p:cNvSpPr/>
          <p:nvPr/>
        </p:nvSpPr>
        <p:spPr bwMode="auto">
          <a:xfrm>
            <a:off x="3200400" y="4352544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1" name="ablation-grid-r5c4">
            <a:extLst>
              <a:ext uri="{FF2B5EF4-FFF2-40B4-BE49-F238E27FC236}">
                <a16:creationId xmlns:a16="http://schemas.microsoft.com/office/drawing/2014/main" id="{B4F1E94F-D361-F30F-5EAC-A1CE56AD589F}"/>
              </a:ext>
            </a:extLst>
          </p:cNvPr>
          <p:cNvSpPr/>
          <p:nvPr/>
        </p:nvSpPr>
        <p:spPr bwMode="auto">
          <a:xfrm>
            <a:off x="4457700" y="4352544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off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2" name="ablation-grid-r5c5">
            <a:extLst>
              <a:ext uri="{FF2B5EF4-FFF2-40B4-BE49-F238E27FC236}">
                <a16:creationId xmlns:a16="http://schemas.microsoft.com/office/drawing/2014/main" id="{391F8966-1309-58ED-8F05-2F62367BE065}"/>
              </a:ext>
            </a:extLst>
          </p:cNvPr>
          <p:cNvSpPr/>
          <p:nvPr/>
        </p:nvSpPr>
        <p:spPr bwMode="auto">
          <a:xfrm>
            <a:off x="5715000" y="4352544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3" name="ablation-grid-r5c6">
            <a:extLst>
              <a:ext uri="{FF2B5EF4-FFF2-40B4-BE49-F238E27FC236}">
                <a16:creationId xmlns:a16="http://schemas.microsoft.com/office/drawing/2014/main" id="{05624BDE-3640-4CAD-1335-B1D54B0DB997}"/>
              </a:ext>
            </a:extLst>
          </p:cNvPr>
          <p:cNvSpPr/>
          <p:nvPr/>
        </p:nvSpPr>
        <p:spPr bwMode="auto">
          <a:xfrm>
            <a:off x="6972300" y="4352544"/>
            <a:ext cx="1257300" cy="749808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[-X.X]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4" name="ablation-grid-r6c1">
            <a:extLst>
              <a:ext uri="{FF2B5EF4-FFF2-40B4-BE49-F238E27FC236}">
                <a16:creationId xmlns:a16="http://schemas.microsoft.com/office/drawing/2014/main" id="{036C3A9D-2ECD-6D26-3B40-6C4A877A7164}"/>
              </a:ext>
            </a:extLst>
          </p:cNvPr>
          <p:cNvSpPr/>
          <p:nvPr/>
        </p:nvSpPr>
        <p:spPr bwMode="auto">
          <a:xfrm>
            <a:off x="685800" y="5102352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Lite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5" name="ablation-grid-r6c2">
            <a:extLst>
              <a:ext uri="{FF2B5EF4-FFF2-40B4-BE49-F238E27FC236}">
                <a16:creationId xmlns:a16="http://schemas.microsoft.com/office/drawing/2014/main" id="{2B1756FC-F86F-5406-6D10-AB9DA96151F5}"/>
              </a:ext>
            </a:extLst>
          </p:cNvPr>
          <p:cNvSpPr/>
          <p:nvPr/>
        </p:nvSpPr>
        <p:spPr bwMode="auto">
          <a:xfrm>
            <a:off x="1943100" y="5102352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6" name="ablation-grid-r6c3">
            <a:extLst>
              <a:ext uri="{FF2B5EF4-FFF2-40B4-BE49-F238E27FC236}">
                <a16:creationId xmlns:a16="http://schemas.microsoft.com/office/drawing/2014/main" id="{CE66119D-F500-BFF2-1601-D51B51C8EEA2}"/>
              </a:ext>
            </a:extLst>
          </p:cNvPr>
          <p:cNvSpPr/>
          <p:nvPr/>
        </p:nvSpPr>
        <p:spPr bwMode="auto">
          <a:xfrm>
            <a:off x="3200400" y="5102352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off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7" name="ablation-grid-r6c4">
            <a:extLst>
              <a:ext uri="{FF2B5EF4-FFF2-40B4-BE49-F238E27FC236}">
                <a16:creationId xmlns:a16="http://schemas.microsoft.com/office/drawing/2014/main" id="{90384C02-F61C-6C62-D3C1-035A683F8732}"/>
              </a:ext>
            </a:extLst>
          </p:cNvPr>
          <p:cNvSpPr/>
          <p:nvPr/>
        </p:nvSpPr>
        <p:spPr bwMode="auto">
          <a:xfrm>
            <a:off x="4457700" y="5102352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off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8" name="ablation-grid-r6c5">
            <a:extLst>
              <a:ext uri="{FF2B5EF4-FFF2-40B4-BE49-F238E27FC236}">
                <a16:creationId xmlns:a16="http://schemas.microsoft.com/office/drawing/2014/main" id="{AA550668-1A58-D598-A883-AE4FAC69D331}"/>
              </a:ext>
            </a:extLst>
          </p:cNvPr>
          <p:cNvSpPr/>
          <p:nvPr/>
        </p:nvSpPr>
        <p:spPr bwMode="auto">
          <a:xfrm>
            <a:off x="5715000" y="5102352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[XX.X]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9" name="ablation-grid-r6c6">
            <a:extLst>
              <a:ext uri="{FF2B5EF4-FFF2-40B4-BE49-F238E27FC236}">
                <a16:creationId xmlns:a16="http://schemas.microsoft.com/office/drawing/2014/main" id="{770FCD58-D9CE-DBFF-A30A-B0A780B8D0DE}"/>
              </a:ext>
            </a:extLst>
          </p:cNvPr>
          <p:cNvSpPr/>
          <p:nvPr/>
        </p:nvSpPr>
        <p:spPr bwMode="auto">
          <a:xfrm>
            <a:off x="6972300" y="5102352"/>
            <a:ext cx="1257300" cy="749808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[-X.X]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0" name="ablation-callout">
            <a:extLst>
              <a:ext uri="{FF2B5EF4-FFF2-40B4-BE49-F238E27FC236}">
                <a16:creationId xmlns:a16="http://schemas.microsoft.com/office/drawing/2014/main" id="{9258F24F-0F46-9C13-838F-DE2B003E0CE6}"/>
              </a:ext>
            </a:extLst>
          </p:cNvPr>
          <p:cNvSpPr/>
          <p:nvPr/>
        </p:nvSpPr>
        <p:spPr bwMode="auto">
          <a:xfrm>
            <a:off x="8549640" y="1353312"/>
            <a:ext cx="2953512" cy="2121408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[Most important component]
Use this card for the ablation conclusion.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1" name="ablation-guide">
            <a:extLst>
              <a:ext uri="{FF2B5EF4-FFF2-40B4-BE49-F238E27FC236}">
                <a16:creationId xmlns:a16="http://schemas.microsoft.com/office/drawing/2014/main" id="{C02F9A46-AD96-F995-8723-25F81FBA6448}"/>
              </a:ext>
            </a:extLst>
          </p:cNvPr>
          <p:cNvSpPr/>
          <p:nvPr/>
        </p:nvSpPr>
        <p:spPr bwMode="auto">
          <a:xfrm>
            <a:off x="8549640" y="3749039"/>
            <a:ext cx="2953512" cy="2157984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[Reading guide]
- row = experiment variant
- columns = component switch
- delta = change vs full system</a:t>
            </a: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212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2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evidence_grid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evidence-img-0-0">
            <a:extLst>
              <a:ext uri="{FF2B5EF4-FFF2-40B4-BE49-F238E27FC236}">
                <a16:creationId xmlns:a16="http://schemas.microsoft.com/office/drawing/2014/main" id="{6CBC59BE-384B-87A4-4CBE-5EDA1DD6E00B}"/>
              </a:ext>
            </a:extLst>
          </p:cNvPr>
          <p:cNvSpPr/>
          <p:nvPr/>
        </p:nvSpPr>
        <p:spPr bwMode="auto">
          <a:xfrm>
            <a:off x="685800" y="1261872"/>
            <a:ext cx="3264408" cy="1627632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[EVIDENCE]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3" name="evidence-img-0-0-cross-a">
            <a:extLst>
              <a:ext uri="{FF2B5EF4-FFF2-40B4-BE49-F238E27FC236}">
                <a16:creationId xmlns:a16="http://schemas.microsoft.com/office/drawing/2014/main" id="{E1F56729-3F24-4F2C-440A-660E89909F79}"/>
              </a:ext>
            </a:extLst>
          </p:cNvPr>
          <p:cNvCxnSpPr/>
          <p:nvPr/>
        </p:nvCxnSpPr>
        <p:spPr bwMode="auto">
          <a:xfrm>
            <a:off x="786384" y="1380743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evidence-img-0-0-cross-b">
            <a:extLst>
              <a:ext uri="{FF2B5EF4-FFF2-40B4-BE49-F238E27FC236}">
                <a16:creationId xmlns:a16="http://schemas.microsoft.com/office/drawing/2014/main" id="{1C2F2BB5-AF48-0EED-58DC-0EB8BDFE39B2}"/>
              </a:ext>
            </a:extLst>
          </p:cNvPr>
          <p:cNvCxnSpPr/>
          <p:nvPr/>
        </p:nvCxnSpPr>
        <p:spPr bwMode="auto">
          <a:xfrm flipH="1">
            <a:off x="786384" y="1380743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evidence-caption-0-0">
            <a:extLst>
              <a:ext uri="{FF2B5EF4-FFF2-40B4-BE49-F238E27FC236}">
                <a16:creationId xmlns:a16="http://schemas.microsoft.com/office/drawing/2014/main" id="{B7739D9C-5B81-FAFE-3292-CABE611083C7}"/>
              </a:ext>
            </a:extLst>
          </p:cNvPr>
          <p:cNvSpPr/>
          <p:nvPr/>
        </p:nvSpPr>
        <p:spPr bwMode="auto">
          <a:xfrm>
            <a:off x="685800" y="2980944"/>
            <a:ext cx="3264408" cy="521207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[caption: dataset / case / observation]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evidence-img-0-1">
            <a:extLst>
              <a:ext uri="{FF2B5EF4-FFF2-40B4-BE49-F238E27FC236}">
                <a16:creationId xmlns:a16="http://schemas.microsoft.com/office/drawing/2014/main" id="{902FDD7C-11DB-9403-F436-A2D6D1BE8785}"/>
              </a:ext>
            </a:extLst>
          </p:cNvPr>
          <p:cNvSpPr/>
          <p:nvPr/>
        </p:nvSpPr>
        <p:spPr bwMode="auto">
          <a:xfrm>
            <a:off x="4178808" y="1261872"/>
            <a:ext cx="3264408" cy="1627632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[EVIDENCE]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9" name="evidence-img-0-1-cross-a">
            <a:extLst>
              <a:ext uri="{FF2B5EF4-FFF2-40B4-BE49-F238E27FC236}">
                <a16:creationId xmlns:a16="http://schemas.microsoft.com/office/drawing/2014/main" id="{146B6B28-6AE0-969E-07C0-3461D33184C3}"/>
              </a:ext>
            </a:extLst>
          </p:cNvPr>
          <p:cNvCxnSpPr/>
          <p:nvPr/>
        </p:nvCxnSpPr>
        <p:spPr bwMode="auto">
          <a:xfrm>
            <a:off x="4279392" y="1380743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evidence-img-0-1-cross-b">
            <a:extLst>
              <a:ext uri="{FF2B5EF4-FFF2-40B4-BE49-F238E27FC236}">
                <a16:creationId xmlns:a16="http://schemas.microsoft.com/office/drawing/2014/main" id="{63A7DF40-4DB1-C83E-D720-913A972FB7DE}"/>
              </a:ext>
            </a:extLst>
          </p:cNvPr>
          <p:cNvCxnSpPr/>
          <p:nvPr/>
        </p:nvCxnSpPr>
        <p:spPr bwMode="auto">
          <a:xfrm flipH="1">
            <a:off x="4279392" y="1380743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evidence-caption-0-1">
            <a:extLst>
              <a:ext uri="{FF2B5EF4-FFF2-40B4-BE49-F238E27FC236}">
                <a16:creationId xmlns:a16="http://schemas.microsoft.com/office/drawing/2014/main" id="{5E2CB89C-07B4-8178-1443-FA59C267540B}"/>
              </a:ext>
            </a:extLst>
          </p:cNvPr>
          <p:cNvSpPr/>
          <p:nvPr/>
        </p:nvSpPr>
        <p:spPr bwMode="auto">
          <a:xfrm>
            <a:off x="4178808" y="2980944"/>
            <a:ext cx="3264408" cy="521207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[caption: dataset / case / observation]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evidence-img-0-2">
            <a:extLst>
              <a:ext uri="{FF2B5EF4-FFF2-40B4-BE49-F238E27FC236}">
                <a16:creationId xmlns:a16="http://schemas.microsoft.com/office/drawing/2014/main" id="{DD6A525B-55A0-66DB-EF2A-196E35AF5031}"/>
              </a:ext>
            </a:extLst>
          </p:cNvPr>
          <p:cNvSpPr/>
          <p:nvPr/>
        </p:nvSpPr>
        <p:spPr bwMode="auto">
          <a:xfrm>
            <a:off x="7671816" y="1261872"/>
            <a:ext cx="3264408" cy="1627632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[EVIDENCE]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3" name="evidence-img-0-2-cross-a">
            <a:extLst>
              <a:ext uri="{FF2B5EF4-FFF2-40B4-BE49-F238E27FC236}">
                <a16:creationId xmlns:a16="http://schemas.microsoft.com/office/drawing/2014/main" id="{32E7866A-79CA-8EC5-36F3-F2590A6AB181}"/>
              </a:ext>
            </a:extLst>
          </p:cNvPr>
          <p:cNvCxnSpPr/>
          <p:nvPr/>
        </p:nvCxnSpPr>
        <p:spPr bwMode="auto">
          <a:xfrm>
            <a:off x="7772400" y="1380743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evidence-img-0-2-cross-b">
            <a:extLst>
              <a:ext uri="{FF2B5EF4-FFF2-40B4-BE49-F238E27FC236}">
                <a16:creationId xmlns:a16="http://schemas.microsoft.com/office/drawing/2014/main" id="{1070F336-38BB-DC63-097B-69BFC8554D5B}"/>
              </a:ext>
            </a:extLst>
          </p:cNvPr>
          <p:cNvCxnSpPr/>
          <p:nvPr/>
        </p:nvCxnSpPr>
        <p:spPr bwMode="auto">
          <a:xfrm flipH="1">
            <a:off x="7772400" y="1380743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evidence-caption-0-2">
            <a:extLst>
              <a:ext uri="{FF2B5EF4-FFF2-40B4-BE49-F238E27FC236}">
                <a16:creationId xmlns:a16="http://schemas.microsoft.com/office/drawing/2014/main" id="{88B9F3E3-05EE-2BA9-2C6C-0234562DB2F8}"/>
              </a:ext>
            </a:extLst>
          </p:cNvPr>
          <p:cNvSpPr/>
          <p:nvPr/>
        </p:nvSpPr>
        <p:spPr bwMode="auto">
          <a:xfrm>
            <a:off x="7671816" y="2980944"/>
            <a:ext cx="3264408" cy="521207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[caption: dataset / case / observation]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evidence-img-1-0">
            <a:extLst>
              <a:ext uri="{FF2B5EF4-FFF2-40B4-BE49-F238E27FC236}">
                <a16:creationId xmlns:a16="http://schemas.microsoft.com/office/drawing/2014/main" id="{E8420907-F5E9-2CDF-B036-914244B68DF9}"/>
              </a:ext>
            </a:extLst>
          </p:cNvPr>
          <p:cNvSpPr/>
          <p:nvPr/>
        </p:nvSpPr>
        <p:spPr bwMode="auto">
          <a:xfrm>
            <a:off x="685800" y="3694176"/>
            <a:ext cx="3264408" cy="1627632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[EVIDENCE]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7" name="evidence-img-1-0-cross-a">
            <a:extLst>
              <a:ext uri="{FF2B5EF4-FFF2-40B4-BE49-F238E27FC236}">
                <a16:creationId xmlns:a16="http://schemas.microsoft.com/office/drawing/2014/main" id="{1E393D17-D4BA-08F8-C563-EA80CCC26E03}"/>
              </a:ext>
            </a:extLst>
          </p:cNvPr>
          <p:cNvCxnSpPr/>
          <p:nvPr/>
        </p:nvCxnSpPr>
        <p:spPr bwMode="auto">
          <a:xfrm>
            <a:off x="786384" y="3813048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evidence-img-1-0-cross-b">
            <a:extLst>
              <a:ext uri="{FF2B5EF4-FFF2-40B4-BE49-F238E27FC236}">
                <a16:creationId xmlns:a16="http://schemas.microsoft.com/office/drawing/2014/main" id="{CF62DA25-2600-0A00-7D0F-4295F8D3AA71}"/>
              </a:ext>
            </a:extLst>
          </p:cNvPr>
          <p:cNvCxnSpPr/>
          <p:nvPr/>
        </p:nvCxnSpPr>
        <p:spPr bwMode="auto">
          <a:xfrm flipH="1">
            <a:off x="786384" y="3813048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evidence-caption-1-0">
            <a:extLst>
              <a:ext uri="{FF2B5EF4-FFF2-40B4-BE49-F238E27FC236}">
                <a16:creationId xmlns:a16="http://schemas.microsoft.com/office/drawing/2014/main" id="{971A8706-1696-6145-C3DE-D57578664B5D}"/>
              </a:ext>
            </a:extLst>
          </p:cNvPr>
          <p:cNvSpPr/>
          <p:nvPr/>
        </p:nvSpPr>
        <p:spPr bwMode="auto">
          <a:xfrm>
            <a:off x="685800" y="5413248"/>
            <a:ext cx="3264408" cy="521207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[caption: dataset / case / observation]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evidence-img-1-1">
            <a:extLst>
              <a:ext uri="{FF2B5EF4-FFF2-40B4-BE49-F238E27FC236}">
                <a16:creationId xmlns:a16="http://schemas.microsoft.com/office/drawing/2014/main" id="{8883A9A1-DF01-F8B8-8694-92E1F555F6E2}"/>
              </a:ext>
            </a:extLst>
          </p:cNvPr>
          <p:cNvSpPr/>
          <p:nvPr/>
        </p:nvSpPr>
        <p:spPr bwMode="auto">
          <a:xfrm>
            <a:off x="4178808" y="3694176"/>
            <a:ext cx="3264408" cy="1627632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[EVIDENCE]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21" name="evidence-img-1-1-cross-a">
            <a:extLst>
              <a:ext uri="{FF2B5EF4-FFF2-40B4-BE49-F238E27FC236}">
                <a16:creationId xmlns:a16="http://schemas.microsoft.com/office/drawing/2014/main" id="{32DAF2CF-E578-47D8-19D3-9A203AE64AA0}"/>
              </a:ext>
            </a:extLst>
          </p:cNvPr>
          <p:cNvCxnSpPr/>
          <p:nvPr/>
        </p:nvCxnSpPr>
        <p:spPr bwMode="auto">
          <a:xfrm>
            <a:off x="4279392" y="3813048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evidence-img-1-1-cross-b">
            <a:extLst>
              <a:ext uri="{FF2B5EF4-FFF2-40B4-BE49-F238E27FC236}">
                <a16:creationId xmlns:a16="http://schemas.microsoft.com/office/drawing/2014/main" id="{3513EA4A-3FB5-D034-C317-E8710663F617}"/>
              </a:ext>
            </a:extLst>
          </p:cNvPr>
          <p:cNvCxnSpPr/>
          <p:nvPr/>
        </p:nvCxnSpPr>
        <p:spPr bwMode="auto">
          <a:xfrm flipH="1">
            <a:off x="4279392" y="3813048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evidence-caption-1-1">
            <a:extLst>
              <a:ext uri="{FF2B5EF4-FFF2-40B4-BE49-F238E27FC236}">
                <a16:creationId xmlns:a16="http://schemas.microsoft.com/office/drawing/2014/main" id="{002B13C8-B68D-4E43-4BD1-8BF1D36F0FF2}"/>
              </a:ext>
            </a:extLst>
          </p:cNvPr>
          <p:cNvSpPr/>
          <p:nvPr/>
        </p:nvSpPr>
        <p:spPr bwMode="auto">
          <a:xfrm>
            <a:off x="4178808" y="5413248"/>
            <a:ext cx="3264408" cy="521207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[caption: dataset / case / observation]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evidence-img-1-2">
            <a:extLst>
              <a:ext uri="{FF2B5EF4-FFF2-40B4-BE49-F238E27FC236}">
                <a16:creationId xmlns:a16="http://schemas.microsoft.com/office/drawing/2014/main" id="{12CCB078-F065-CDF2-7C28-CC3976AA507A}"/>
              </a:ext>
            </a:extLst>
          </p:cNvPr>
          <p:cNvSpPr/>
          <p:nvPr/>
        </p:nvSpPr>
        <p:spPr bwMode="auto">
          <a:xfrm>
            <a:off x="7671816" y="3694176"/>
            <a:ext cx="3264408" cy="1627632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[EVIDENCE]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25" name="evidence-img-1-2-cross-a">
            <a:extLst>
              <a:ext uri="{FF2B5EF4-FFF2-40B4-BE49-F238E27FC236}">
                <a16:creationId xmlns:a16="http://schemas.microsoft.com/office/drawing/2014/main" id="{2740095B-AD4B-8C36-CBD5-6FACEE03A39E}"/>
              </a:ext>
            </a:extLst>
          </p:cNvPr>
          <p:cNvCxnSpPr/>
          <p:nvPr/>
        </p:nvCxnSpPr>
        <p:spPr bwMode="auto">
          <a:xfrm>
            <a:off x="7772400" y="3813048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evidence-img-1-2-cross-b">
            <a:extLst>
              <a:ext uri="{FF2B5EF4-FFF2-40B4-BE49-F238E27FC236}">
                <a16:creationId xmlns:a16="http://schemas.microsoft.com/office/drawing/2014/main" id="{D7DB629E-A867-6800-E80A-887CB27B0E8C}"/>
              </a:ext>
            </a:extLst>
          </p:cNvPr>
          <p:cNvCxnSpPr/>
          <p:nvPr/>
        </p:nvCxnSpPr>
        <p:spPr bwMode="auto">
          <a:xfrm flipH="1">
            <a:off x="7772400" y="3813048"/>
            <a:ext cx="3063240" cy="1389888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evidence-caption-1-2">
            <a:extLst>
              <a:ext uri="{FF2B5EF4-FFF2-40B4-BE49-F238E27FC236}">
                <a16:creationId xmlns:a16="http://schemas.microsoft.com/office/drawing/2014/main" id="{354396F3-9633-7EF5-8490-F54FB4ACA25D}"/>
              </a:ext>
            </a:extLst>
          </p:cNvPr>
          <p:cNvSpPr/>
          <p:nvPr/>
        </p:nvSpPr>
        <p:spPr bwMode="auto">
          <a:xfrm>
            <a:off x="7671816" y="5413248"/>
            <a:ext cx="3264408" cy="521207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[caption: dataset / case / observation]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8520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3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case_gallery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case-main">
            <a:extLst>
              <a:ext uri="{FF2B5EF4-FFF2-40B4-BE49-F238E27FC236}">
                <a16:creationId xmlns:a16="http://schemas.microsoft.com/office/drawing/2014/main" id="{5626DA7C-A33C-F5DE-7A99-A2E9F4B8255B}"/>
              </a:ext>
            </a:extLst>
          </p:cNvPr>
          <p:cNvSpPr/>
          <p:nvPr/>
        </p:nvSpPr>
        <p:spPr bwMode="auto">
          <a:xfrm>
            <a:off x="685800" y="1307592"/>
            <a:ext cx="6565392" cy="3886200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[MAIN CASE / BEFORE-AFTER]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3" name="case-main-cross-a">
            <a:extLst>
              <a:ext uri="{FF2B5EF4-FFF2-40B4-BE49-F238E27FC236}">
                <a16:creationId xmlns:a16="http://schemas.microsoft.com/office/drawing/2014/main" id="{9C9EF974-D2AA-ACAB-EA48-11138A36975E}"/>
              </a:ext>
            </a:extLst>
          </p:cNvPr>
          <p:cNvCxnSpPr/>
          <p:nvPr/>
        </p:nvCxnSpPr>
        <p:spPr bwMode="auto">
          <a:xfrm>
            <a:off x="804672" y="1426464"/>
            <a:ext cx="6327648" cy="3648456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case-main-cross-b">
            <a:extLst>
              <a:ext uri="{FF2B5EF4-FFF2-40B4-BE49-F238E27FC236}">
                <a16:creationId xmlns:a16="http://schemas.microsoft.com/office/drawing/2014/main" id="{052D9FDC-50FF-3243-C40E-48CEC0E9E897}"/>
              </a:ext>
            </a:extLst>
          </p:cNvPr>
          <p:cNvCxnSpPr/>
          <p:nvPr/>
        </p:nvCxnSpPr>
        <p:spPr bwMode="auto">
          <a:xfrm flipH="1">
            <a:off x="804672" y="1426464"/>
            <a:ext cx="6327648" cy="3648456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case-caption-main">
            <a:extLst>
              <a:ext uri="{FF2B5EF4-FFF2-40B4-BE49-F238E27FC236}">
                <a16:creationId xmlns:a16="http://schemas.microsoft.com/office/drawing/2014/main" id="{B1A33EB3-BFBA-798B-257E-6EF1B841D8C1}"/>
              </a:ext>
            </a:extLst>
          </p:cNvPr>
          <p:cNvSpPr/>
          <p:nvPr/>
        </p:nvSpPr>
        <p:spPr bwMode="auto">
          <a:xfrm>
            <a:off x="685800" y="5294376"/>
            <a:ext cx="6565392" cy="658368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[case caption: input, output, error, or success pattern]</a:t>
            </a: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case-thumb-0">
            <a:extLst>
              <a:ext uri="{FF2B5EF4-FFF2-40B4-BE49-F238E27FC236}">
                <a16:creationId xmlns:a16="http://schemas.microsoft.com/office/drawing/2014/main" id="{5FBD84E6-1F83-0E9B-5555-C233CEC06224}"/>
              </a:ext>
            </a:extLst>
          </p:cNvPr>
          <p:cNvSpPr/>
          <p:nvPr/>
        </p:nvSpPr>
        <p:spPr bwMode="auto">
          <a:xfrm>
            <a:off x="7525512" y="1307592"/>
            <a:ext cx="1737360" cy="1417320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[CASE]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9" name="case-thumb-0-cross-a">
            <a:extLst>
              <a:ext uri="{FF2B5EF4-FFF2-40B4-BE49-F238E27FC236}">
                <a16:creationId xmlns:a16="http://schemas.microsoft.com/office/drawing/2014/main" id="{38638138-FD3F-7B02-B6AA-1AA489E7E08D}"/>
              </a:ext>
            </a:extLst>
          </p:cNvPr>
          <p:cNvCxnSpPr/>
          <p:nvPr/>
        </p:nvCxnSpPr>
        <p:spPr bwMode="auto">
          <a:xfrm>
            <a:off x="7616952" y="1417319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case-thumb-0-cross-b">
            <a:extLst>
              <a:ext uri="{FF2B5EF4-FFF2-40B4-BE49-F238E27FC236}">
                <a16:creationId xmlns:a16="http://schemas.microsoft.com/office/drawing/2014/main" id="{B0F7BB66-D273-7EED-517D-A5A8D42AAE6D}"/>
              </a:ext>
            </a:extLst>
          </p:cNvPr>
          <p:cNvCxnSpPr/>
          <p:nvPr/>
        </p:nvCxnSpPr>
        <p:spPr bwMode="auto">
          <a:xfrm flipH="1">
            <a:off x="7616952" y="1417319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case-thumb-caption-0">
            <a:extLst>
              <a:ext uri="{FF2B5EF4-FFF2-40B4-BE49-F238E27FC236}">
                <a16:creationId xmlns:a16="http://schemas.microsoft.com/office/drawing/2014/main" id="{145D93EB-D424-EB06-1F31-550E52A65D79}"/>
              </a:ext>
            </a:extLst>
          </p:cNvPr>
          <p:cNvSpPr/>
          <p:nvPr/>
        </p:nvSpPr>
        <p:spPr bwMode="auto">
          <a:xfrm>
            <a:off x="7525512" y="2825496"/>
            <a:ext cx="1737360" cy="658368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 / tag]</a:t>
            </a:r>
            <a:endParaRPr kumimoji="0" lang="zh-CN" altLang="en-US" sz="8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case-thumb-1">
            <a:extLst>
              <a:ext uri="{FF2B5EF4-FFF2-40B4-BE49-F238E27FC236}">
                <a16:creationId xmlns:a16="http://schemas.microsoft.com/office/drawing/2014/main" id="{0CCBE10F-D5E4-CF85-3157-FC6CAE3FD68B}"/>
              </a:ext>
            </a:extLst>
          </p:cNvPr>
          <p:cNvSpPr/>
          <p:nvPr/>
        </p:nvSpPr>
        <p:spPr bwMode="auto">
          <a:xfrm>
            <a:off x="9509760" y="1307592"/>
            <a:ext cx="1737360" cy="1417320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[CASE]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3" name="case-thumb-1-cross-a">
            <a:extLst>
              <a:ext uri="{FF2B5EF4-FFF2-40B4-BE49-F238E27FC236}">
                <a16:creationId xmlns:a16="http://schemas.microsoft.com/office/drawing/2014/main" id="{3F1E9D80-A1A5-0431-A2F4-A91AAA75D705}"/>
              </a:ext>
            </a:extLst>
          </p:cNvPr>
          <p:cNvCxnSpPr/>
          <p:nvPr/>
        </p:nvCxnSpPr>
        <p:spPr bwMode="auto">
          <a:xfrm>
            <a:off x="9601200" y="1417319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case-thumb-1-cross-b">
            <a:extLst>
              <a:ext uri="{FF2B5EF4-FFF2-40B4-BE49-F238E27FC236}">
                <a16:creationId xmlns:a16="http://schemas.microsoft.com/office/drawing/2014/main" id="{33915270-CD96-CD23-A9FB-FCF6A9C5FABB}"/>
              </a:ext>
            </a:extLst>
          </p:cNvPr>
          <p:cNvCxnSpPr/>
          <p:nvPr/>
        </p:nvCxnSpPr>
        <p:spPr bwMode="auto">
          <a:xfrm flipH="1">
            <a:off x="9601200" y="1417319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case-thumb-caption-1">
            <a:extLst>
              <a:ext uri="{FF2B5EF4-FFF2-40B4-BE49-F238E27FC236}">
                <a16:creationId xmlns:a16="http://schemas.microsoft.com/office/drawing/2014/main" id="{A0AA6903-AC71-8A72-DDCD-8EC7160AE4EB}"/>
              </a:ext>
            </a:extLst>
          </p:cNvPr>
          <p:cNvSpPr/>
          <p:nvPr/>
        </p:nvSpPr>
        <p:spPr bwMode="auto">
          <a:xfrm>
            <a:off x="9509760" y="2825496"/>
            <a:ext cx="1737360" cy="658368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 / tag]</a:t>
            </a:r>
            <a:endParaRPr kumimoji="0" lang="zh-CN" altLang="en-US" sz="8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case-thumb-2">
            <a:extLst>
              <a:ext uri="{FF2B5EF4-FFF2-40B4-BE49-F238E27FC236}">
                <a16:creationId xmlns:a16="http://schemas.microsoft.com/office/drawing/2014/main" id="{622DF24B-5C72-DC34-B671-431B87FF264B}"/>
              </a:ext>
            </a:extLst>
          </p:cNvPr>
          <p:cNvSpPr/>
          <p:nvPr/>
        </p:nvSpPr>
        <p:spPr bwMode="auto">
          <a:xfrm>
            <a:off x="7525512" y="3730752"/>
            <a:ext cx="1737360" cy="1417320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[CASE]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7" name="case-thumb-2-cross-a">
            <a:extLst>
              <a:ext uri="{FF2B5EF4-FFF2-40B4-BE49-F238E27FC236}">
                <a16:creationId xmlns:a16="http://schemas.microsoft.com/office/drawing/2014/main" id="{EAEFF70D-1EF2-86CE-420D-057D0A7EC9C4}"/>
              </a:ext>
            </a:extLst>
          </p:cNvPr>
          <p:cNvCxnSpPr/>
          <p:nvPr/>
        </p:nvCxnSpPr>
        <p:spPr bwMode="auto">
          <a:xfrm>
            <a:off x="7616952" y="3840480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case-thumb-2-cross-b">
            <a:extLst>
              <a:ext uri="{FF2B5EF4-FFF2-40B4-BE49-F238E27FC236}">
                <a16:creationId xmlns:a16="http://schemas.microsoft.com/office/drawing/2014/main" id="{4689B28A-35A9-D55C-E4ED-0FC2F9F3967F}"/>
              </a:ext>
            </a:extLst>
          </p:cNvPr>
          <p:cNvCxnSpPr/>
          <p:nvPr/>
        </p:nvCxnSpPr>
        <p:spPr bwMode="auto">
          <a:xfrm flipH="1">
            <a:off x="7616952" y="3840480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case-thumb-caption-2">
            <a:extLst>
              <a:ext uri="{FF2B5EF4-FFF2-40B4-BE49-F238E27FC236}">
                <a16:creationId xmlns:a16="http://schemas.microsoft.com/office/drawing/2014/main" id="{0ED532C2-145C-994C-FC18-B21001D33BFD}"/>
              </a:ext>
            </a:extLst>
          </p:cNvPr>
          <p:cNvSpPr/>
          <p:nvPr/>
        </p:nvSpPr>
        <p:spPr bwMode="auto">
          <a:xfrm>
            <a:off x="7525512" y="5248656"/>
            <a:ext cx="1737360" cy="658368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 / tag]</a:t>
            </a:r>
            <a:endParaRPr kumimoji="0" lang="zh-CN" altLang="en-US" sz="8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case-thumb-3">
            <a:extLst>
              <a:ext uri="{FF2B5EF4-FFF2-40B4-BE49-F238E27FC236}">
                <a16:creationId xmlns:a16="http://schemas.microsoft.com/office/drawing/2014/main" id="{A29ACC81-A424-A108-DA8E-90950358F4EB}"/>
              </a:ext>
            </a:extLst>
          </p:cNvPr>
          <p:cNvSpPr/>
          <p:nvPr/>
        </p:nvSpPr>
        <p:spPr bwMode="auto">
          <a:xfrm>
            <a:off x="9509760" y="3730752"/>
            <a:ext cx="1737360" cy="1417320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[CASE]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21" name="case-thumb-3-cross-a">
            <a:extLst>
              <a:ext uri="{FF2B5EF4-FFF2-40B4-BE49-F238E27FC236}">
                <a16:creationId xmlns:a16="http://schemas.microsoft.com/office/drawing/2014/main" id="{9D94A1BA-5BE6-44FE-5DAE-57DF9B01A11F}"/>
              </a:ext>
            </a:extLst>
          </p:cNvPr>
          <p:cNvCxnSpPr/>
          <p:nvPr/>
        </p:nvCxnSpPr>
        <p:spPr bwMode="auto">
          <a:xfrm>
            <a:off x="9601200" y="3840480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case-thumb-3-cross-b">
            <a:extLst>
              <a:ext uri="{FF2B5EF4-FFF2-40B4-BE49-F238E27FC236}">
                <a16:creationId xmlns:a16="http://schemas.microsoft.com/office/drawing/2014/main" id="{ED05C59A-89B6-F776-4D55-5922A99EF01E}"/>
              </a:ext>
            </a:extLst>
          </p:cNvPr>
          <p:cNvCxnSpPr/>
          <p:nvPr/>
        </p:nvCxnSpPr>
        <p:spPr bwMode="auto">
          <a:xfrm flipH="1">
            <a:off x="9601200" y="3840480"/>
            <a:ext cx="1554480" cy="1197864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case-thumb-caption-3">
            <a:extLst>
              <a:ext uri="{FF2B5EF4-FFF2-40B4-BE49-F238E27FC236}">
                <a16:creationId xmlns:a16="http://schemas.microsoft.com/office/drawing/2014/main" id="{FAEBBDF5-AD87-5EC8-F179-DFC916885C86}"/>
              </a:ext>
            </a:extLst>
          </p:cNvPr>
          <p:cNvSpPr/>
          <p:nvPr/>
        </p:nvSpPr>
        <p:spPr bwMode="auto">
          <a:xfrm>
            <a:off x="9509760" y="5248656"/>
            <a:ext cx="1737360" cy="658368"/>
          </a:xfrm>
          <a:prstGeom prst="roundRect">
            <a:avLst/>
          </a:prstGeom>
          <a:noFill/>
          <a:ln w="1270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36576" tIns="18288" rIns="36576" bIns="1828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[caption / tag]</a:t>
            </a:r>
            <a:endParaRPr kumimoji="0" lang="zh-CN" altLang="en-US" sz="8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2347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4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summary_takeaways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summary-card1">
            <a:extLst>
              <a:ext uri="{FF2B5EF4-FFF2-40B4-BE49-F238E27FC236}">
                <a16:creationId xmlns:a16="http://schemas.microsoft.com/office/drawing/2014/main" id="{E61B9729-30D7-BCA3-35E5-EEBCAEFE4F72}"/>
              </a:ext>
            </a:extLst>
          </p:cNvPr>
          <p:cNvSpPr/>
          <p:nvPr/>
        </p:nvSpPr>
        <p:spPr bwMode="auto">
          <a:xfrm>
            <a:off x="777240" y="1444752"/>
            <a:ext cx="4956048" cy="3520440"/>
          </a:xfrm>
          <a:prstGeom prst="roundRect">
            <a:avLst/>
          </a:prstGeom>
          <a:solidFill>
            <a:srgbClr val="EFF8F9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01
[Takeaway headline]
[One sentence implication.]</a:t>
            </a:r>
            <a:endParaRPr kumimoji="0" lang="zh-CN" altLang="en-US" sz="14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summary-card2">
            <a:extLst>
              <a:ext uri="{FF2B5EF4-FFF2-40B4-BE49-F238E27FC236}">
                <a16:creationId xmlns:a16="http://schemas.microsoft.com/office/drawing/2014/main" id="{F61C30A6-67B5-4E5E-D4E6-28480D4BAF31}"/>
              </a:ext>
            </a:extLst>
          </p:cNvPr>
          <p:cNvSpPr/>
          <p:nvPr/>
        </p:nvSpPr>
        <p:spPr bwMode="auto">
          <a:xfrm>
            <a:off x="6099048" y="1444752"/>
            <a:ext cx="5312664" cy="1527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9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02
[Takeaway headline]
[One sentence implication.]</a:t>
            </a:r>
            <a:endParaRPr kumimoji="0" lang="zh-CN" altLang="en-US" sz="14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" name="summary-card3">
            <a:extLst>
              <a:ext uri="{FF2B5EF4-FFF2-40B4-BE49-F238E27FC236}">
                <a16:creationId xmlns:a16="http://schemas.microsoft.com/office/drawing/2014/main" id="{B22DE486-7397-0707-DE72-B65E23C90C06}"/>
              </a:ext>
            </a:extLst>
          </p:cNvPr>
          <p:cNvSpPr/>
          <p:nvPr/>
        </p:nvSpPr>
        <p:spPr bwMode="auto">
          <a:xfrm>
            <a:off x="6099048" y="3438144"/>
            <a:ext cx="5312664" cy="1527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9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03
[Takeaway headline]
[One sentence implication.]</a:t>
            </a:r>
            <a:endParaRPr kumimoji="0" lang="zh-CN" altLang="en-US" sz="14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5" name="summary-next">
            <a:extLst>
              <a:ext uri="{FF2B5EF4-FFF2-40B4-BE49-F238E27FC236}">
                <a16:creationId xmlns:a16="http://schemas.microsoft.com/office/drawing/2014/main" id="{FE9E9F5E-BB97-B7C7-AECD-28090AEB86C4}"/>
              </a:ext>
            </a:extLst>
          </p:cNvPr>
          <p:cNvSpPr/>
          <p:nvPr/>
        </p:nvSpPr>
        <p:spPr bwMode="auto">
          <a:xfrm>
            <a:off x="777240" y="5239512"/>
            <a:ext cx="10634472" cy="777240"/>
          </a:xfrm>
          <a:prstGeom prst="roundRect">
            <a:avLst/>
          </a:prstGeom>
          <a:solidFill>
            <a:srgbClr val="0F3A56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[Next step / decision request / closing message]</a:t>
            </a:r>
            <a:endParaRPr kumimoji="0" lang="zh-CN" altLang="en-US" sz="15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223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5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project_target_map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target-root">
            <a:extLst>
              <a:ext uri="{FF2B5EF4-FFF2-40B4-BE49-F238E27FC236}">
                <a16:creationId xmlns:a16="http://schemas.microsoft.com/office/drawing/2014/main" id="{F92459FF-420F-747A-1940-23CE747CD69A}"/>
              </a:ext>
            </a:extLst>
          </p:cNvPr>
          <p:cNvSpPr/>
          <p:nvPr/>
        </p:nvSpPr>
        <p:spPr bwMode="auto">
          <a:xfrm>
            <a:off x="777240" y="1353312"/>
            <a:ext cx="10634472" cy="987552"/>
          </a:xfrm>
          <a:prstGeom prst="roundRect">
            <a:avLst/>
          </a:prstGeom>
          <a:solidFill>
            <a:srgbClr val="0F3A56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[PROJECT TARGET]
[overall objective]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3" name="target-link">
            <a:extLst>
              <a:ext uri="{FF2B5EF4-FFF2-40B4-BE49-F238E27FC236}">
                <a16:creationId xmlns:a16="http://schemas.microsoft.com/office/drawing/2014/main" id="{5339F152-3942-23F4-2ADB-B0E34EEDCFDA}"/>
              </a:ext>
            </a:extLst>
          </p:cNvPr>
          <p:cNvCxnSpPr/>
          <p:nvPr/>
        </p:nvCxnSpPr>
        <p:spPr bwMode="auto">
          <a:xfrm flipH="1">
            <a:off x="3310128" y="2340864"/>
            <a:ext cx="1640390" cy="708055"/>
          </a:xfrm>
          <a:prstGeom prst="line">
            <a:avLst/>
          </a:prstGeom>
          <a:ln w="1778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arget-node">
            <a:extLst>
              <a:ext uri="{FF2B5EF4-FFF2-40B4-BE49-F238E27FC236}">
                <a16:creationId xmlns:a16="http://schemas.microsoft.com/office/drawing/2014/main" id="{15BA31C7-5190-3E05-1186-7EDECE95B19E}"/>
              </a:ext>
            </a:extLst>
          </p:cNvPr>
          <p:cNvSpPr/>
          <p:nvPr/>
        </p:nvSpPr>
        <p:spPr bwMode="auto">
          <a:xfrm>
            <a:off x="786384" y="2834640"/>
            <a:ext cx="2523744" cy="1517904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Target A
[scientific question]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5" name="target-link">
            <a:extLst>
              <a:ext uri="{FF2B5EF4-FFF2-40B4-BE49-F238E27FC236}">
                <a16:creationId xmlns:a16="http://schemas.microsoft.com/office/drawing/2014/main" id="{F429E304-FF32-948C-142B-28E1B85E91DD}"/>
              </a:ext>
            </a:extLst>
          </p:cNvPr>
          <p:cNvCxnSpPr/>
          <p:nvPr/>
        </p:nvCxnSpPr>
        <p:spPr bwMode="auto">
          <a:xfrm flipH="1">
            <a:off x="5337008" y="2340864"/>
            <a:ext cx="378733" cy="493776"/>
          </a:xfrm>
          <a:prstGeom prst="line">
            <a:avLst/>
          </a:prstGeom>
          <a:ln w="1778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arget-node">
            <a:extLst>
              <a:ext uri="{FF2B5EF4-FFF2-40B4-BE49-F238E27FC236}">
                <a16:creationId xmlns:a16="http://schemas.microsoft.com/office/drawing/2014/main" id="{E64EDC33-3583-2DE9-7F59-F0244F0434AE}"/>
              </a:ext>
            </a:extLst>
          </p:cNvPr>
          <p:cNvSpPr/>
          <p:nvPr/>
        </p:nvSpPr>
        <p:spPr bwMode="auto">
          <a:xfrm>
            <a:off x="3493008" y="2834640"/>
            <a:ext cx="2523744" cy="1517904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Target B
[technical system]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9" name="target-link">
            <a:extLst>
              <a:ext uri="{FF2B5EF4-FFF2-40B4-BE49-F238E27FC236}">
                <a16:creationId xmlns:a16="http://schemas.microsoft.com/office/drawing/2014/main" id="{2587E508-1B91-70CA-78F5-9B0B4D709CAF}"/>
              </a:ext>
            </a:extLst>
          </p:cNvPr>
          <p:cNvCxnSpPr/>
          <p:nvPr/>
        </p:nvCxnSpPr>
        <p:spPr bwMode="auto">
          <a:xfrm>
            <a:off x="6480965" y="2340864"/>
            <a:ext cx="386489" cy="493776"/>
          </a:xfrm>
          <a:prstGeom prst="line">
            <a:avLst/>
          </a:prstGeom>
          <a:ln w="1778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arget-node">
            <a:extLst>
              <a:ext uri="{FF2B5EF4-FFF2-40B4-BE49-F238E27FC236}">
                <a16:creationId xmlns:a16="http://schemas.microsoft.com/office/drawing/2014/main" id="{D7077E46-454E-1139-A76A-D0A083D89C17}"/>
              </a:ext>
            </a:extLst>
          </p:cNvPr>
          <p:cNvSpPr/>
          <p:nvPr/>
        </p:nvSpPr>
        <p:spPr bwMode="auto">
          <a:xfrm>
            <a:off x="6199632" y="2834640"/>
            <a:ext cx="2523744" cy="1517904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Target C
[dataset / platform]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1" name="target-link">
            <a:extLst>
              <a:ext uri="{FF2B5EF4-FFF2-40B4-BE49-F238E27FC236}">
                <a16:creationId xmlns:a16="http://schemas.microsoft.com/office/drawing/2014/main" id="{850EE4D1-40D2-545B-6647-13C1A665B168}"/>
              </a:ext>
            </a:extLst>
          </p:cNvPr>
          <p:cNvCxnSpPr/>
          <p:nvPr/>
        </p:nvCxnSpPr>
        <p:spPr bwMode="auto">
          <a:xfrm>
            <a:off x="7246188" y="2340864"/>
            <a:ext cx="1660066" cy="711723"/>
          </a:xfrm>
          <a:prstGeom prst="line">
            <a:avLst/>
          </a:prstGeom>
          <a:ln w="1778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arget-node">
            <a:extLst>
              <a:ext uri="{FF2B5EF4-FFF2-40B4-BE49-F238E27FC236}">
                <a16:creationId xmlns:a16="http://schemas.microsoft.com/office/drawing/2014/main" id="{D422DB05-A450-36E7-AB23-B2E6E871CDB3}"/>
              </a:ext>
            </a:extLst>
          </p:cNvPr>
          <p:cNvSpPr/>
          <p:nvPr/>
        </p:nvSpPr>
        <p:spPr bwMode="auto">
          <a:xfrm>
            <a:off x="8906255" y="2834640"/>
            <a:ext cx="2523744" cy="1517904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Target D
[demo / impact]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target-grid-r1c1">
            <a:extLst>
              <a:ext uri="{FF2B5EF4-FFF2-40B4-BE49-F238E27FC236}">
                <a16:creationId xmlns:a16="http://schemas.microsoft.com/office/drawing/2014/main" id="{F052EA07-CF85-83BA-ABAB-CA4D5078F2E3}"/>
              </a:ext>
            </a:extLst>
          </p:cNvPr>
          <p:cNvSpPr/>
          <p:nvPr/>
        </p:nvSpPr>
        <p:spPr bwMode="auto">
          <a:xfrm>
            <a:off x="777240" y="5129784"/>
            <a:ext cx="2658618" cy="38404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Output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target-grid-r1c2">
            <a:extLst>
              <a:ext uri="{FF2B5EF4-FFF2-40B4-BE49-F238E27FC236}">
                <a16:creationId xmlns:a16="http://schemas.microsoft.com/office/drawing/2014/main" id="{B9C97AC4-57AC-A18D-9815-82C9CB047F30}"/>
              </a:ext>
            </a:extLst>
          </p:cNvPr>
          <p:cNvSpPr/>
          <p:nvPr/>
        </p:nvSpPr>
        <p:spPr bwMode="auto">
          <a:xfrm>
            <a:off x="3435858" y="5129784"/>
            <a:ext cx="2658618" cy="38404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Indicator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target-grid-r1c3">
            <a:extLst>
              <a:ext uri="{FF2B5EF4-FFF2-40B4-BE49-F238E27FC236}">
                <a16:creationId xmlns:a16="http://schemas.microsoft.com/office/drawing/2014/main" id="{787BAF8B-C41E-9C7D-C129-08507E13BB39}"/>
              </a:ext>
            </a:extLst>
          </p:cNvPr>
          <p:cNvSpPr/>
          <p:nvPr/>
        </p:nvSpPr>
        <p:spPr bwMode="auto">
          <a:xfrm>
            <a:off x="6094476" y="5129784"/>
            <a:ext cx="2658618" cy="38404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Acceptance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target-grid-r1c4">
            <a:extLst>
              <a:ext uri="{FF2B5EF4-FFF2-40B4-BE49-F238E27FC236}">
                <a16:creationId xmlns:a16="http://schemas.microsoft.com/office/drawing/2014/main" id="{AA751072-BE53-B06B-A85E-4CDEAFB67F13}"/>
              </a:ext>
            </a:extLst>
          </p:cNvPr>
          <p:cNvSpPr/>
          <p:nvPr/>
        </p:nvSpPr>
        <p:spPr bwMode="auto">
          <a:xfrm>
            <a:off x="8753094" y="5129784"/>
            <a:ext cx="2658618" cy="384048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Owner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7" name="target-grid-r2c1">
            <a:extLst>
              <a:ext uri="{FF2B5EF4-FFF2-40B4-BE49-F238E27FC236}">
                <a16:creationId xmlns:a16="http://schemas.microsoft.com/office/drawing/2014/main" id="{C5B947EB-B586-C3BC-C102-8853F5E117A9}"/>
              </a:ext>
            </a:extLst>
          </p:cNvPr>
          <p:cNvSpPr/>
          <p:nvPr/>
        </p:nvSpPr>
        <p:spPr bwMode="auto">
          <a:xfrm>
            <a:off x="777240" y="5513832"/>
            <a:ext cx="2658618" cy="50292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[deliverable]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8" name="target-grid-r2c2">
            <a:extLst>
              <a:ext uri="{FF2B5EF4-FFF2-40B4-BE49-F238E27FC236}">
                <a16:creationId xmlns:a16="http://schemas.microsoft.com/office/drawing/2014/main" id="{1EB58176-8012-E635-C635-605D3C7CE734}"/>
              </a:ext>
            </a:extLst>
          </p:cNvPr>
          <p:cNvSpPr/>
          <p:nvPr/>
        </p:nvSpPr>
        <p:spPr bwMode="auto">
          <a:xfrm>
            <a:off x="3435858" y="5513832"/>
            <a:ext cx="2658618" cy="50292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[metric]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9" name="target-grid-r2c3">
            <a:extLst>
              <a:ext uri="{FF2B5EF4-FFF2-40B4-BE49-F238E27FC236}">
                <a16:creationId xmlns:a16="http://schemas.microsoft.com/office/drawing/2014/main" id="{D9918511-F0C0-BD2B-8642-5FE9E269196D}"/>
              </a:ext>
            </a:extLst>
          </p:cNvPr>
          <p:cNvSpPr/>
          <p:nvPr/>
        </p:nvSpPr>
        <p:spPr bwMode="auto">
          <a:xfrm>
            <a:off x="6094476" y="5513832"/>
            <a:ext cx="2658618" cy="50292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[criterion]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target-grid-r2c4">
            <a:extLst>
              <a:ext uri="{FF2B5EF4-FFF2-40B4-BE49-F238E27FC236}">
                <a16:creationId xmlns:a16="http://schemas.microsoft.com/office/drawing/2014/main" id="{A0C100EF-3826-213D-810F-7970C8D0E555}"/>
              </a:ext>
            </a:extLst>
          </p:cNvPr>
          <p:cNvSpPr/>
          <p:nvPr/>
        </p:nvSpPr>
        <p:spPr bwMode="auto">
          <a:xfrm>
            <a:off x="8753094" y="5513832"/>
            <a:ext cx="2658618" cy="50292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0576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6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domain_object_map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domain-layers">
            <a:extLst>
              <a:ext uri="{FF2B5EF4-FFF2-40B4-BE49-F238E27FC236}">
                <a16:creationId xmlns:a16="http://schemas.microsoft.com/office/drawing/2014/main" id="{90F73895-9507-179A-D6FD-AD6F4D79446C}"/>
              </a:ext>
            </a:extLst>
          </p:cNvPr>
          <p:cNvSpPr/>
          <p:nvPr/>
        </p:nvSpPr>
        <p:spPr bwMode="auto">
          <a:xfrm>
            <a:off x="685800" y="1353312"/>
            <a:ext cx="2148840" cy="4544568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237744" tIns="256032" rIns="18288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[DOMAIN LAYERS]
1. [Physical objects]
2. [Data objects]
3. [Model objects]
4. [Service objects]</a:t>
            </a:r>
            <a:endParaRPr kumimoji="0" lang="zh-CN" altLang="en-US" sz="11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3" name="domain-edge">
            <a:extLst>
              <a:ext uri="{FF2B5EF4-FFF2-40B4-BE49-F238E27FC236}">
                <a16:creationId xmlns:a16="http://schemas.microsoft.com/office/drawing/2014/main" id="{83C0D2AC-0149-1A01-474D-26220ABFE3D4}"/>
              </a:ext>
            </a:extLst>
          </p:cNvPr>
          <p:cNvCxnSpPr/>
          <p:nvPr/>
        </p:nvCxnSpPr>
        <p:spPr bwMode="auto">
          <a:xfrm>
            <a:off x="5422392" y="2176272"/>
            <a:ext cx="557784" cy="1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domain-edge">
            <a:extLst>
              <a:ext uri="{FF2B5EF4-FFF2-40B4-BE49-F238E27FC236}">
                <a16:creationId xmlns:a16="http://schemas.microsoft.com/office/drawing/2014/main" id="{EC9F4382-315B-3B86-86D7-516AFD627C87}"/>
              </a:ext>
            </a:extLst>
          </p:cNvPr>
          <p:cNvCxnSpPr/>
          <p:nvPr/>
        </p:nvCxnSpPr>
        <p:spPr bwMode="auto">
          <a:xfrm>
            <a:off x="8220456" y="2176272"/>
            <a:ext cx="557784" cy="1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domain-edge">
            <a:extLst>
              <a:ext uri="{FF2B5EF4-FFF2-40B4-BE49-F238E27FC236}">
                <a16:creationId xmlns:a16="http://schemas.microsoft.com/office/drawing/2014/main" id="{0EB3037F-8AC2-ABE6-32CA-A3E0B2B3BFE9}"/>
              </a:ext>
            </a:extLst>
          </p:cNvPr>
          <p:cNvCxnSpPr/>
          <p:nvPr/>
        </p:nvCxnSpPr>
        <p:spPr bwMode="auto">
          <a:xfrm>
            <a:off x="4680368" y="2724912"/>
            <a:ext cx="642798" cy="932688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domain-edge">
            <a:extLst>
              <a:ext uri="{FF2B5EF4-FFF2-40B4-BE49-F238E27FC236}">
                <a16:creationId xmlns:a16="http://schemas.microsoft.com/office/drawing/2014/main" id="{5D38E5E4-9854-298D-A33F-06AA8EA39FBC}"/>
              </a:ext>
            </a:extLst>
          </p:cNvPr>
          <p:cNvCxnSpPr/>
          <p:nvPr/>
        </p:nvCxnSpPr>
        <p:spPr bwMode="auto">
          <a:xfrm flipH="1">
            <a:off x="6079400" y="2724912"/>
            <a:ext cx="642798" cy="932688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domain-edge">
            <a:extLst>
              <a:ext uri="{FF2B5EF4-FFF2-40B4-BE49-F238E27FC236}">
                <a16:creationId xmlns:a16="http://schemas.microsoft.com/office/drawing/2014/main" id="{5E507D7C-6F9E-4915-67F1-81322ED18D5C}"/>
              </a:ext>
            </a:extLst>
          </p:cNvPr>
          <p:cNvCxnSpPr/>
          <p:nvPr/>
        </p:nvCxnSpPr>
        <p:spPr bwMode="auto">
          <a:xfrm>
            <a:off x="7478432" y="2724912"/>
            <a:ext cx="642798" cy="932688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" name="domain-edge">
            <a:extLst>
              <a:ext uri="{FF2B5EF4-FFF2-40B4-BE49-F238E27FC236}">
                <a16:creationId xmlns:a16="http://schemas.microsoft.com/office/drawing/2014/main" id="{DC55400B-1DD1-1CAC-413A-271D08C2E1FC}"/>
              </a:ext>
            </a:extLst>
          </p:cNvPr>
          <p:cNvCxnSpPr/>
          <p:nvPr/>
        </p:nvCxnSpPr>
        <p:spPr bwMode="auto">
          <a:xfrm flipH="1">
            <a:off x="8877464" y="2724912"/>
            <a:ext cx="642798" cy="932688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domain-node">
            <a:extLst>
              <a:ext uri="{FF2B5EF4-FFF2-40B4-BE49-F238E27FC236}">
                <a16:creationId xmlns:a16="http://schemas.microsoft.com/office/drawing/2014/main" id="{4E01D51A-6998-EC71-8B3D-19CDBF24F9CA}"/>
              </a:ext>
            </a:extLst>
          </p:cNvPr>
          <p:cNvSpPr/>
          <p:nvPr/>
        </p:nvSpPr>
        <p:spPr bwMode="auto">
          <a:xfrm>
            <a:off x="3182112" y="1627632"/>
            <a:ext cx="2240280" cy="1097280"/>
          </a:xfrm>
          <a:prstGeom prst="ellipse">
            <a:avLst/>
          </a:prstGeom>
          <a:solidFill>
            <a:srgbClr val="F8FBFC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[node A]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domain-node">
            <a:extLst>
              <a:ext uri="{FF2B5EF4-FFF2-40B4-BE49-F238E27FC236}">
                <a16:creationId xmlns:a16="http://schemas.microsoft.com/office/drawing/2014/main" id="{3707323E-A8C4-DA60-3D61-DF99853C8E11}"/>
              </a:ext>
            </a:extLst>
          </p:cNvPr>
          <p:cNvSpPr/>
          <p:nvPr/>
        </p:nvSpPr>
        <p:spPr bwMode="auto">
          <a:xfrm>
            <a:off x="5980176" y="1627632"/>
            <a:ext cx="2240280" cy="1097280"/>
          </a:xfrm>
          <a:prstGeom prst="ellipse">
            <a:avLst/>
          </a:prstGeom>
          <a:solidFill>
            <a:srgbClr val="F8FBFC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[node B]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domain-node">
            <a:extLst>
              <a:ext uri="{FF2B5EF4-FFF2-40B4-BE49-F238E27FC236}">
                <a16:creationId xmlns:a16="http://schemas.microsoft.com/office/drawing/2014/main" id="{04B26FA5-A814-DE2C-6739-91B0729BB3BD}"/>
              </a:ext>
            </a:extLst>
          </p:cNvPr>
          <p:cNvSpPr/>
          <p:nvPr/>
        </p:nvSpPr>
        <p:spPr bwMode="auto">
          <a:xfrm>
            <a:off x="8778240" y="1627632"/>
            <a:ext cx="2240280" cy="1097280"/>
          </a:xfrm>
          <a:prstGeom prst="ellipse">
            <a:avLst/>
          </a:prstGeom>
          <a:solidFill>
            <a:srgbClr val="F8FBFC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[node C]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domain-node">
            <a:extLst>
              <a:ext uri="{FF2B5EF4-FFF2-40B4-BE49-F238E27FC236}">
                <a16:creationId xmlns:a16="http://schemas.microsoft.com/office/drawing/2014/main" id="{224A6250-990C-08B3-513C-641187E0630E}"/>
              </a:ext>
            </a:extLst>
          </p:cNvPr>
          <p:cNvSpPr/>
          <p:nvPr/>
        </p:nvSpPr>
        <p:spPr bwMode="auto">
          <a:xfrm>
            <a:off x="4581144" y="3657600"/>
            <a:ext cx="2240280" cy="1097280"/>
          </a:xfrm>
          <a:prstGeom prst="ellipse">
            <a:avLst/>
          </a:prstGeom>
          <a:solidFill>
            <a:srgbClr val="F8FBFC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[node D]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domain-node">
            <a:extLst>
              <a:ext uri="{FF2B5EF4-FFF2-40B4-BE49-F238E27FC236}">
                <a16:creationId xmlns:a16="http://schemas.microsoft.com/office/drawing/2014/main" id="{75D570CA-6297-B099-AD70-331E5301E405}"/>
              </a:ext>
            </a:extLst>
          </p:cNvPr>
          <p:cNvSpPr/>
          <p:nvPr/>
        </p:nvSpPr>
        <p:spPr bwMode="auto">
          <a:xfrm>
            <a:off x="7379208" y="3657600"/>
            <a:ext cx="2240280" cy="1097280"/>
          </a:xfrm>
          <a:prstGeom prst="ellipse">
            <a:avLst/>
          </a:prstGeom>
          <a:solidFill>
            <a:srgbClr val="F8FBFC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[node E]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domain-legend">
            <a:extLst>
              <a:ext uri="{FF2B5EF4-FFF2-40B4-BE49-F238E27FC236}">
                <a16:creationId xmlns:a16="http://schemas.microsoft.com/office/drawing/2014/main" id="{32294EE0-23CC-F496-57E8-66DA55044B37}"/>
              </a:ext>
            </a:extLst>
          </p:cNvPr>
          <p:cNvSpPr/>
          <p:nvPr/>
        </p:nvSpPr>
        <p:spPr bwMode="auto">
          <a:xfrm>
            <a:off x="3182112" y="5257800"/>
            <a:ext cx="7836408" cy="64008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[legend]
node = object
edge = relation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6465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7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technical_route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route-stage-0">
            <a:extLst>
              <a:ext uri="{FF2B5EF4-FFF2-40B4-BE49-F238E27FC236}">
                <a16:creationId xmlns:a16="http://schemas.microsoft.com/office/drawing/2014/main" id="{404EF013-040B-8343-0BD6-69E035645800}"/>
              </a:ext>
            </a:extLst>
          </p:cNvPr>
          <p:cNvSpPr/>
          <p:nvPr/>
        </p:nvSpPr>
        <p:spPr bwMode="auto">
          <a:xfrm>
            <a:off x="685800" y="1371600"/>
            <a:ext cx="2512314" cy="71323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Stage 1
Data foundation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route-task-0">
            <a:extLst>
              <a:ext uri="{FF2B5EF4-FFF2-40B4-BE49-F238E27FC236}">
                <a16:creationId xmlns:a16="http://schemas.microsoft.com/office/drawing/2014/main" id="{CC98052A-226E-FDF0-5FB9-58A0B27AB1AB}"/>
              </a:ext>
            </a:extLst>
          </p:cNvPr>
          <p:cNvSpPr/>
          <p:nvPr/>
        </p:nvSpPr>
        <p:spPr bwMode="auto">
          <a:xfrm>
            <a:off x="685800" y="2340864"/>
            <a:ext cx="2512314" cy="2697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82880" tIns="219456" rIns="164592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[task list]
- [input]
- [method]
- [output]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4" name="route-arrow-0">
            <a:extLst>
              <a:ext uri="{FF2B5EF4-FFF2-40B4-BE49-F238E27FC236}">
                <a16:creationId xmlns:a16="http://schemas.microsoft.com/office/drawing/2014/main" id="{036108F1-3900-661A-0507-185EBF5E906C}"/>
              </a:ext>
            </a:extLst>
          </p:cNvPr>
          <p:cNvCxnSpPr/>
          <p:nvPr/>
        </p:nvCxnSpPr>
        <p:spPr bwMode="auto">
          <a:xfrm>
            <a:off x="3198114" y="1728216"/>
            <a:ext cx="256032" cy="1"/>
          </a:xfrm>
          <a:prstGeom prst="line">
            <a:avLst/>
          </a:prstGeom>
          <a:ln w="2540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route-stage-1">
            <a:extLst>
              <a:ext uri="{FF2B5EF4-FFF2-40B4-BE49-F238E27FC236}">
                <a16:creationId xmlns:a16="http://schemas.microsoft.com/office/drawing/2014/main" id="{17B63AA9-DF57-8A9F-4CB2-11BAA57BA343}"/>
              </a:ext>
            </a:extLst>
          </p:cNvPr>
          <p:cNvSpPr/>
          <p:nvPr/>
        </p:nvSpPr>
        <p:spPr bwMode="auto">
          <a:xfrm>
            <a:off x="3454146" y="1371600"/>
            <a:ext cx="2512314" cy="71323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Stage 2
Model / algorithm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route-task-1">
            <a:extLst>
              <a:ext uri="{FF2B5EF4-FFF2-40B4-BE49-F238E27FC236}">
                <a16:creationId xmlns:a16="http://schemas.microsoft.com/office/drawing/2014/main" id="{AC7774F5-E5B3-11A9-FB55-BE4549424D0F}"/>
              </a:ext>
            </a:extLst>
          </p:cNvPr>
          <p:cNvSpPr/>
          <p:nvPr/>
        </p:nvSpPr>
        <p:spPr bwMode="auto">
          <a:xfrm>
            <a:off x="3454146" y="2340864"/>
            <a:ext cx="2512314" cy="2697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82880" tIns="219456" rIns="164592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[task list]
- [input]
- [method]
- [output]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9" name="route-arrow-1">
            <a:extLst>
              <a:ext uri="{FF2B5EF4-FFF2-40B4-BE49-F238E27FC236}">
                <a16:creationId xmlns:a16="http://schemas.microsoft.com/office/drawing/2014/main" id="{F282B060-323C-8AD0-1DC3-429990196084}"/>
              </a:ext>
            </a:extLst>
          </p:cNvPr>
          <p:cNvCxnSpPr/>
          <p:nvPr/>
        </p:nvCxnSpPr>
        <p:spPr bwMode="auto">
          <a:xfrm>
            <a:off x="5966460" y="1728216"/>
            <a:ext cx="256032" cy="1"/>
          </a:xfrm>
          <a:prstGeom prst="line">
            <a:avLst/>
          </a:prstGeom>
          <a:ln w="2540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route-stage-2">
            <a:extLst>
              <a:ext uri="{FF2B5EF4-FFF2-40B4-BE49-F238E27FC236}">
                <a16:creationId xmlns:a16="http://schemas.microsoft.com/office/drawing/2014/main" id="{50F45C73-F3AF-CBFD-BB85-EF29926EA6A4}"/>
              </a:ext>
            </a:extLst>
          </p:cNvPr>
          <p:cNvSpPr/>
          <p:nvPr/>
        </p:nvSpPr>
        <p:spPr bwMode="auto">
          <a:xfrm>
            <a:off x="6222492" y="1371600"/>
            <a:ext cx="2512314" cy="71323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Stage 3
System integration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1" name="route-task-2">
            <a:extLst>
              <a:ext uri="{FF2B5EF4-FFF2-40B4-BE49-F238E27FC236}">
                <a16:creationId xmlns:a16="http://schemas.microsoft.com/office/drawing/2014/main" id="{7D8A7883-22FE-2616-5CBA-BBF2A744B68C}"/>
              </a:ext>
            </a:extLst>
          </p:cNvPr>
          <p:cNvSpPr/>
          <p:nvPr/>
        </p:nvSpPr>
        <p:spPr bwMode="auto">
          <a:xfrm>
            <a:off x="6222492" y="2340864"/>
            <a:ext cx="2512314" cy="2697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82880" tIns="219456" rIns="164592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[task list]
- [input]
- [method]
- [output]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2" name="route-arrow-2">
            <a:extLst>
              <a:ext uri="{FF2B5EF4-FFF2-40B4-BE49-F238E27FC236}">
                <a16:creationId xmlns:a16="http://schemas.microsoft.com/office/drawing/2014/main" id="{962936B3-E1EE-2A0E-180F-9DAD2A392E9E}"/>
              </a:ext>
            </a:extLst>
          </p:cNvPr>
          <p:cNvCxnSpPr/>
          <p:nvPr/>
        </p:nvCxnSpPr>
        <p:spPr bwMode="auto">
          <a:xfrm>
            <a:off x="8734806" y="1728216"/>
            <a:ext cx="256032" cy="1"/>
          </a:xfrm>
          <a:prstGeom prst="line">
            <a:avLst/>
          </a:prstGeom>
          <a:ln w="25400">
            <a:solidFill>
              <a:srgbClr val="008A9A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oute-stage-3">
            <a:extLst>
              <a:ext uri="{FF2B5EF4-FFF2-40B4-BE49-F238E27FC236}">
                <a16:creationId xmlns:a16="http://schemas.microsoft.com/office/drawing/2014/main" id="{A76CAEA9-7DA7-6C3F-3444-A874F0B04060}"/>
              </a:ext>
            </a:extLst>
          </p:cNvPr>
          <p:cNvSpPr/>
          <p:nvPr/>
        </p:nvSpPr>
        <p:spPr bwMode="auto">
          <a:xfrm>
            <a:off x="8990838" y="1371600"/>
            <a:ext cx="2512314" cy="713232"/>
          </a:xfrm>
          <a:prstGeom prst="roundRect">
            <a:avLst/>
          </a:prstGeom>
          <a:solidFill>
            <a:srgbClr val="EEF5F8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Stage 4
Evaluation / demo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route-task-3">
            <a:extLst>
              <a:ext uri="{FF2B5EF4-FFF2-40B4-BE49-F238E27FC236}">
                <a16:creationId xmlns:a16="http://schemas.microsoft.com/office/drawing/2014/main" id="{F2C3CB29-F735-692C-5971-D93F2BCB9F74}"/>
              </a:ext>
            </a:extLst>
          </p:cNvPr>
          <p:cNvSpPr/>
          <p:nvPr/>
        </p:nvSpPr>
        <p:spPr bwMode="auto">
          <a:xfrm>
            <a:off x="8990838" y="2340864"/>
            <a:ext cx="2512314" cy="2697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82880" tIns="219456" rIns="164592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[task list]
- [input]
- [method]
- [output]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route-dependency">
            <a:extLst>
              <a:ext uri="{FF2B5EF4-FFF2-40B4-BE49-F238E27FC236}">
                <a16:creationId xmlns:a16="http://schemas.microsoft.com/office/drawing/2014/main" id="{AF89AB47-697A-9BD4-21B9-023C67F8DD47}"/>
              </a:ext>
            </a:extLst>
          </p:cNvPr>
          <p:cNvSpPr/>
          <p:nvPr/>
        </p:nvSpPr>
        <p:spPr bwMode="auto">
          <a:xfrm>
            <a:off x="685800" y="5404104"/>
            <a:ext cx="10817352" cy="612648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[cross-stage dependency / data flow / platform support]</a:t>
            </a:r>
            <a:endParaRPr kumimoji="0" lang="zh-CN" altLang="en-US" sz="11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4000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8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workpackage_matrix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wp-grid-r1c1">
            <a:extLst>
              <a:ext uri="{FF2B5EF4-FFF2-40B4-BE49-F238E27FC236}">
                <a16:creationId xmlns:a16="http://schemas.microsoft.com/office/drawing/2014/main" id="{F00C36DD-B266-F367-F89B-57DF2D9A89BC}"/>
              </a:ext>
            </a:extLst>
          </p:cNvPr>
          <p:cNvSpPr/>
          <p:nvPr/>
        </p:nvSpPr>
        <p:spPr bwMode="auto">
          <a:xfrm>
            <a:off x="685800" y="1353312"/>
            <a:ext cx="105156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WP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wp-grid-r1c2">
            <a:extLst>
              <a:ext uri="{FF2B5EF4-FFF2-40B4-BE49-F238E27FC236}">
                <a16:creationId xmlns:a16="http://schemas.microsoft.com/office/drawing/2014/main" id="{57ACE616-3D59-A30D-C2C1-C457BDC8403C}"/>
              </a:ext>
            </a:extLst>
          </p:cNvPr>
          <p:cNvSpPr/>
          <p:nvPr/>
        </p:nvSpPr>
        <p:spPr bwMode="auto">
          <a:xfrm>
            <a:off x="1737360" y="1353312"/>
            <a:ext cx="123444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Lead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" name="wp-grid-r1c3">
            <a:extLst>
              <a:ext uri="{FF2B5EF4-FFF2-40B4-BE49-F238E27FC236}">
                <a16:creationId xmlns:a16="http://schemas.microsoft.com/office/drawing/2014/main" id="{32FD5EC7-24FB-37CF-2104-10BD4778B82F}"/>
              </a:ext>
            </a:extLst>
          </p:cNvPr>
          <p:cNvSpPr/>
          <p:nvPr/>
        </p:nvSpPr>
        <p:spPr bwMode="auto">
          <a:xfrm>
            <a:off x="2971800" y="1353312"/>
            <a:ext cx="233172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Task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5" name="wp-grid-r1c4">
            <a:extLst>
              <a:ext uri="{FF2B5EF4-FFF2-40B4-BE49-F238E27FC236}">
                <a16:creationId xmlns:a16="http://schemas.microsoft.com/office/drawing/2014/main" id="{B04FA159-CBE1-0292-C543-0CAAF9E14094}"/>
              </a:ext>
            </a:extLst>
          </p:cNvPr>
          <p:cNvSpPr/>
          <p:nvPr/>
        </p:nvSpPr>
        <p:spPr bwMode="auto">
          <a:xfrm>
            <a:off x="5303520" y="1353312"/>
            <a:ext cx="224028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Deliverable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wp-grid-r1c5">
            <a:extLst>
              <a:ext uri="{FF2B5EF4-FFF2-40B4-BE49-F238E27FC236}">
                <a16:creationId xmlns:a16="http://schemas.microsoft.com/office/drawing/2014/main" id="{1F66363D-BF59-BB5A-A135-6C0DAB6D4211}"/>
              </a:ext>
            </a:extLst>
          </p:cNvPr>
          <p:cNvSpPr/>
          <p:nvPr/>
        </p:nvSpPr>
        <p:spPr bwMode="auto">
          <a:xfrm>
            <a:off x="7543800" y="1353312"/>
            <a:ext cx="169164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Metric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9" name="wp-grid-r1c6">
            <a:extLst>
              <a:ext uri="{FF2B5EF4-FFF2-40B4-BE49-F238E27FC236}">
                <a16:creationId xmlns:a16="http://schemas.microsoft.com/office/drawing/2014/main" id="{B32BFFA7-68E9-6CD8-0AF7-ED77C77B1670}"/>
              </a:ext>
            </a:extLst>
          </p:cNvPr>
          <p:cNvSpPr/>
          <p:nvPr/>
        </p:nvSpPr>
        <p:spPr bwMode="auto">
          <a:xfrm>
            <a:off x="9235440" y="1353312"/>
            <a:ext cx="164592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Time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wp-grid-r2c1">
            <a:extLst>
              <a:ext uri="{FF2B5EF4-FFF2-40B4-BE49-F238E27FC236}">
                <a16:creationId xmlns:a16="http://schemas.microsoft.com/office/drawing/2014/main" id="{8B9C6F3B-EDA2-535D-0B5E-F0A8795C110F}"/>
              </a:ext>
            </a:extLst>
          </p:cNvPr>
          <p:cNvSpPr/>
          <p:nvPr/>
        </p:nvSpPr>
        <p:spPr bwMode="auto">
          <a:xfrm>
            <a:off x="685800" y="1993391"/>
            <a:ext cx="1051560" cy="640080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WP1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1" name="wp-grid-r2c2">
            <a:extLst>
              <a:ext uri="{FF2B5EF4-FFF2-40B4-BE49-F238E27FC236}">
                <a16:creationId xmlns:a16="http://schemas.microsoft.com/office/drawing/2014/main" id="{0FAB8A8C-A6F7-C17A-7338-CB192D9B58EF}"/>
              </a:ext>
            </a:extLst>
          </p:cNvPr>
          <p:cNvSpPr/>
          <p:nvPr/>
        </p:nvSpPr>
        <p:spPr bwMode="auto">
          <a:xfrm>
            <a:off x="1737360" y="1993391"/>
            <a:ext cx="1234440" cy="640080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[owner]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wp-grid-r2c3">
            <a:extLst>
              <a:ext uri="{FF2B5EF4-FFF2-40B4-BE49-F238E27FC236}">
                <a16:creationId xmlns:a16="http://schemas.microsoft.com/office/drawing/2014/main" id="{9EFAE06D-021E-94B5-25A3-3E7A687B85A3}"/>
              </a:ext>
            </a:extLst>
          </p:cNvPr>
          <p:cNvSpPr/>
          <p:nvPr/>
        </p:nvSpPr>
        <p:spPr bwMode="auto">
          <a:xfrm>
            <a:off x="2971800" y="1993391"/>
            <a:ext cx="2331720" cy="640080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[task]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wp-grid-r2c4">
            <a:extLst>
              <a:ext uri="{FF2B5EF4-FFF2-40B4-BE49-F238E27FC236}">
                <a16:creationId xmlns:a16="http://schemas.microsoft.com/office/drawing/2014/main" id="{1B1A7094-889C-0CBF-EF98-235476A2F317}"/>
              </a:ext>
            </a:extLst>
          </p:cNvPr>
          <p:cNvSpPr/>
          <p:nvPr/>
        </p:nvSpPr>
        <p:spPr bwMode="auto">
          <a:xfrm>
            <a:off x="5303520" y="1993391"/>
            <a:ext cx="2240280" cy="640080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[artifact]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wp-grid-r2c5">
            <a:extLst>
              <a:ext uri="{FF2B5EF4-FFF2-40B4-BE49-F238E27FC236}">
                <a16:creationId xmlns:a16="http://schemas.microsoft.com/office/drawing/2014/main" id="{57177A17-CC10-5EC0-8A0D-49292E8CE5E7}"/>
              </a:ext>
            </a:extLst>
          </p:cNvPr>
          <p:cNvSpPr/>
          <p:nvPr/>
        </p:nvSpPr>
        <p:spPr bwMode="auto">
          <a:xfrm>
            <a:off x="7543800" y="1993391"/>
            <a:ext cx="1691640" cy="640080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[KPI]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wp-grid-r2c6">
            <a:extLst>
              <a:ext uri="{FF2B5EF4-FFF2-40B4-BE49-F238E27FC236}">
                <a16:creationId xmlns:a16="http://schemas.microsoft.com/office/drawing/2014/main" id="{6A49E34A-60DD-A972-FEE5-D8624E6CB941}"/>
              </a:ext>
            </a:extLst>
          </p:cNvPr>
          <p:cNvSpPr/>
          <p:nvPr/>
        </p:nvSpPr>
        <p:spPr bwMode="auto">
          <a:xfrm>
            <a:off x="9235440" y="1993391"/>
            <a:ext cx="1645920" cy="640080"/>
          </a:xfrm>
          <a:prstGeom prst="rect">
            <a:avLst/>
          </a:prstGeom>
          <a:solidFill>
            <a:srgbClr val="FFF4C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[Q1]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wp-grid-r3c1">
            <a:extLst>
              <a:ext uri="{FF2B5EF4-FFF2-40B4-BE49-F238E27FC236}">
                <a16:creationId xmlns:a16="http://schemas.microsoft.com/office/drawing/2014/main" id="{93182238-50C4-EDF7-11CB-19DADAE7F673}"/>
              </a:ext>
            </a:extLst>
          </p:cNvPr>
          <p:cNvSpPr/>
          <p:nvPr/>
        </p:nvSpPr>
        <p:spPr bwMode="auto">
          <a:xfrm>
            <a:off x="685800" y="2633472"/>
            <a:ext cx="105156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WP2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7" name="wp-grid-r3c2">
            <a:extLst>
              <a:ext uri="{FF2B5EF4-FFF2-40B4-BE49-F238E27FC236}">
                <a16:creationId xmlns:a16="http://schemas.microsoft.com/office/drawing/2014/main" id="{4AC088D2-1314-93C7-5418-FB501D25F05F}"/>
              </a:ext>
            </a:extLst>
          </p:cNvPr>
          <p:cNvSpPr/>
          <p:nvPr/>
        </p:nvSpPr>
        <p:spPr bwMode="auto">
          <a:xfrm>
            <a:off x="1737360" y="2633472"/>
            <a:ext cx="123444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[owner]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8" name="wp-grid-r3c3">
            <a:extLst>
              <a:ext uri="{FF2B5EF4-FFF2-40B4-BE49-F238E27FC236}">
                <a16:creationId xmlns:a16="http://schemas.microsoft.com/office/drawing/2014/main" id="{B2CECBD6-E6B4-7F80-22F4-0B748A010CDC}"/>
              </a:ext>
            </a:extLst>
          </p:cNvPr>
          <p:cNvSpPr/>
          <p:nvPr/>
        </p:nvSpPr>
        <p:spPr bwMode="auto">
          <a:xfrm>
            <a:off x="2971800" y="2633472"/>
            <a:ext cx="233172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[task]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9" name="wp-grid-r3c4">
            <a:extLst>
              <a:ext uri="{FF2B5EF4-FFF2-40B4-BE49-F238E27FC236}">
                <a16:creationId xmlns:a16="http://schemas.microsoft.com/office/drawing/2014/main" id="{7FD430B5-0130-3960-319D-24A985BD4AB5}"/>
              </a:ext>
            </a:extLst>
          </p:cNvPr>
          <p:cNvSpPr/>
          <p:nvPr/>
        </p:nvSpPr>
        <p:spPr bwMode="auto">
          <a:xfrm>
            <a:off x="5303520" y="2633472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[artifact]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wp-grid-r3c5">
            <a:extLst>
              <a:ext uri="{FF2B5EF4-FFF2-40B4-BE49-F238E27FC236}">
                <a16:creationId xmlns:a16="http://schemas.microsoft.com/office/drawing/2014/main" id="{1CB3F75F-E117-C2F6-4065-4DCD9C4522F0}"/>
              </a:ext>
            </a:extLst>
          </p:cNvPr>
          <p:cNvSpPr/>
          <p:nvPr/>
        </p:nvSpPr>
        <p:spPr bwMode="auto">
          <a:xfrm>
            <a:off x="7543800" y="2633472"/>
            <a:ext cx="169164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[KPI]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1" name="wp-grid-r3c6">
            <a:extLst>
              <a:ext uri="{FF2B5EF4-FFF2-40B4-BE49-F238E27FC236}">
                <a16:creationId xmlns:a16="http://schemas.microsoft.com/office/drawing/2014/main" id="{8D3E52F5-D7DE-33AA-100B-D5F5C37009D0}"/>
              </a:ext>
            </a:extLst>
          </p:cNvPr>
          <p:cNvSpPr/>
          <p:nvPr/>
        </p:nvSpPr>
        <p:spPr bwMode="auto">
          <a:xfrm>
            <a:off x="9235440" y="2633472"/>
            <a:ext cx="164592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[Q2]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2" name="wp-grid-r4c1">
            <a:extLst>
              <a:ext uri="{FF2B5EF4-FFF2-40B4-BE49-F238E27FC236}">
                <a16:creationId xmlns:a16="http://schemas.microsoft.com/office/drawing/2014/main" id="{0219FC94-3773-256B-72B7-6455993AD65C}"/>
              </a:ext>
            </a:extLst>
          </p:cNvPr>
          <p:cNvSpPr/>
          <p:nvPr/>
        </p:nvSpPr>
        <p:spPr bwMode="auto">
          <a:xfrm>
            <a:off x="685800" y="3273551"/>
            <a:ext cx="105156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WP3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3" name="wp-grid-r4c2">
            <a:extLst>
              <a:ext uri="{FF2B5EF4-FFF2-40B4-BE49-F238E27FC236}">
                <a16:creationId xmlns:a16="http://schemas.microsoft.com/office/drawing/2014/main" id="{B1137B12-A212-D53F-3607-A3A1328F2C8B}"/>
              </a:ext>
            </a:extLst>
          </p:cNvPr>
          <p:cNvSpPr/>
          <p:nvPr/>
        </p:nvSpPr>
        <p:spPr bwMode="auto">
          <a:xfrm>
            <a:off x="1737360" y="3273551"/>
            <a:ext cx="123444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[owner]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wp-grid-r4c3">
            <a:extLst>
              <a:ext uri="{FF2B5EF4-FFF2-40B4-BE49-F238E27FC236}">
                <a16:creationId xmlns:a16="http://schemas.microsoft.com/office/drawing/2014/main" id="{C5249FCE-A354-9D35-AEB3-CE71F85DA242}"/>
              </a:ext>
            </a:extLst>
          </p:cNvPr>
          <p:cNvSpPr/>
          <p:nvPr/>
        </p:nvSpPr>
        <p:spPr bwMode="auto">
          <a:xfrm>
            <a:off x="2971800" y="3273551"/>
            <a:ext cx="233172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[task]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5" name="wp-grid-r4c4">
            <a:extLst>
              <a:ext uri="{FF2B5EF4-FFF2-40B4-BE49-F238E27FC236}">
                <a16:creationId xmlns:a16="http://schemas.microsoft.com/office/drawing/2014/main" id="{9E1D3AE1-EC76-53DF-779C-6E4E2781492C}"/>
              </a:ext>
            </a:extLst>
          </p:cNvPr>
          <p:cNvSpPr/>
          <p:nvPr/>
        </p:nvSpPr>
        <p:spPr bwMode="auto">
          <a:xfrm>
            <a:off x="5303520" y="3273551"/>
            <a:ext cx="22402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[artifact]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6" name="wp-grid-r4c5">
            <a:extLst>
              <a:ext uri="{FF2B5EF4-FFF2-40B4-BE49-F238E27FC236}">
                <a16:creationId xmlns:a16="http://schemas.microsoft.com/office/drawing/2014/main" id="{E016AEB9-687D-3D83-ABD7-13D1B7880E15}"/>
              </a:ext>
            </a:extLst>
          </p:cNvPr>
          <p:cNvSpPr/>
          <p:nvPr/>
        </p:nvSpPr>
        <p:spPr bwMode="auto">
          <a:xfrm>
            <a:off x="7543800" y="3273551"/>
            <a:ext cx="169164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[KPI]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7" name="wp-grid-r4c6">
            <a:extLst>
              <a:ext uri="{FF2B5EF4-FFF2-40B4-BE49-F238E27FC236}">
                <a16:creationId xmlns:a16="http://schemas.microsoft.com/office/drawing/2014/main" id="{31F9B5DC-D90E-3DAF-453D-2A4BB61EAC69}"/>
              </a:ext>
            </a:extLst>
          </p:cNvPr>
          <p:cNvSpPr/>
          <p:nvPr/>
        </p:nvSpPr>
        <p:spPr bwMode="auto">
          <a:xfrm>
            <a:off x="9235440" y="3273551"/>
            <a:ext cx="164592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[Q3]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8" name="wp-grid-r5c1">
            <a:extLst>
              <a:ext uri="{FF2B5EF4-FFF2-40B4-BE49-F238E27FC236}">
                <a16:creationId xmlns:a16="http://schemas.microsoft.com/office/drawing/2014/main" id="{7E80230E-E009-D3BA-CBE2-D5AF53C474A0}"/>
              </a:ext>
            </a:extLst>
          </p:cNvPr>
          <p:cNvSpPr/>
          <p:nvPr/>
        </p:nvSpPr>
        <p:spPr bwMode="auto">
          <a:xfrm>
            <a:off x="685800" y="3913631"/>
            <a:ext cx="105156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WP4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9" name="wp-grid-r5c2">
            <a:extLst>
              <a:ext uri="{FF2B5EF4-FFF2-40B4-BE49-F238E27FC236}">
                <a16:creationId xmlns:a16="http://schemas.microsoft.com/office/drawing/2014/main" id="{E1DC6F43-0AC6-1834-0572-7AB73A1EB3C2}"/>
              </a:ext>
            </a:extLst>
          </p:cNvPr>
          <p:cNvSpPr/>
          <p:nvPr/>
        </p:nvSpPr>
        <p:spPr bwMode="auto">
          <a:xfrm>
            <a:off x="1737360" y="3913631"/>
            <a:ext cx="123444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[owner]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0" name="wp-grid-r5c3">
            <a:extLst>
              <a:ext uri="{FF2B5EF4-FFF2-40B4-BE49-F238E27FC236}">
                <a16:creationId xmlns:a16="http://schemas.microsoft.com/office/drawing/2014/main" id="{D29B7163-20A8-E3F4-AF68-E2D0665D3174}"/>
              </a:ext>
            </a:extLst>
          </p:cNvPr>
          <p:cNvSpPr/>
          <p:nvPr/>
        </p:nvSpPr>
        <p:spPr bwMode="auto">
          <a:xfrm>
            <a:off x="2971800" y="3913631"/>
            <a:ext cx="233172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[task]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1" name="wp-grid-r5c4">
            <a:extLst>
              <a:ext uri="{FF2B5EF4-FFF2-40B4-BE49-F238E27FC236}">
                <a16:creationId xmlns:a16="http://schemas.microsoft.com/office/drawing/2014/main" id="{EEA46DA8-59AC-9B7D-D245-7AE662098396}"/>
              </a:ext>
            </a:extLst>
          </p:cNvPr>
          <p:cNvSpPr/>
          <p:nvPr/>
        </p:nvSpPr>
        <p:spPr bwMode="auto">
          <a:xfrm>
            <a:off x="5303520" y="3913631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[artifact]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2" name="wp-grid-r5c5">
            <a:extLst>
              <a:ext uri="{FF2B5EF4-FFF2-40B4-BE49-F238E27FC236}">
                <a16:creationId xmlns:a16="http://schemas.microsoft.com/office/drawing/2014/main" id="{3D064508-D40D-847E-B5E9-3278942ADDC6}"/>
              </a:ext>
            </a:extLst>
          </p:cNvPr>
          <p:cNvSpPr/>
          <p:nvPr/>
        </p:nvSpPr>
        <p:spPr bwMode="auto">
          <a:xfrm>
            <a:off x="7543800" y="3913631"/>
            <a:ext cx="169164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[KPI]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3" name="wp-grid-r5c6">
            <a:extLst>
              <a:ext uri="{FF2B5EF4-FFF2-40B4-BE49-F238E27FC236}">
                <a16:creationId xmlns:a16="http://schemas.microsoft.com/office/drawing/2014/main" id="{E3CC84AB-6BDD-F170-25FC-2084B3B657E7}"/>
              </a:ext>
            </a:extLst>
          </p:cNvPr>
          <p:cNvSpPr/>
          <p:nvPr/>
        </p:nvSpPr>
        <p:spPr bwMode="auto">
          <a:xfrm>
            <a:off x="9235440" y="3913631"/>
            <a:ext cx="164592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[Q4]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4" name="wp-grid-r6c1">
            <a:extLst>
              <a:ext uri="{FF2B5EF4-FFF2-40B4-BE49-F238E27FC236}">
                <a16:creationId xmlns:a16="http://schemas.microsoft.com/office/drawing/2014/main" id="{72F90CE6-32AC-0C01-1C1A-65FC75DC97E7}"/>
              </a:ext>
            </a:extLst>
          </p:cNvPr>
          <p:cNvSpPr/>
          <p:nvPr/>
        </p:nvSpPr>
        <p:spPr bwMode="auto">
          <a:xfrm>
            <a:off x="685800" y="4553712"/>
            <a:ext cx="105156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WP5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5" name="wp-grid-r6c2">
            <a:extLst>
              <a:ext uri="{FF2B5EF4-FFF2-40B4-BE49-F238E27FC236}">
                <a16:creationId xmlns:a16="http://schemas.microsoft.com/office/drawing/2014/main" id="{D0E5A25F-34B1-315F-2022-17ADBE31601B}"/>
              </a:ext>
            </a:extLst>
          </p:cNvPr>
          <p:cNvSpPr/>
          <p:nvPr/>
        </p:nvSpPr>
        <p:spPr bwMode="auto">
          <a:xfrm>
            <a:off x="1737360" y="4553712"/>
            <a:ext cx="123444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[owner]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6" name="wp-grid-r6c3">
            <a:extLst>
              <a:ext uri="{FF2B5EF4-FFF2-40B4-BE49-F238E27FC236}">
                <a16:creationId xmlns:a16="http://schemas.microsoft.com/office/drawing/2014/main" id="{B5FBCF0B-8A6E-F238-DB9F-98B24EFD2A57}"/>
              </a:ext>
            </a:extLst>
          </p:cNvPr>
          <p:cNvSpPr/>
          <p:nvPr/>
        </p:nvSpPr>
        <p:spPr bwMode="auto">
          <a:xfrm>
            <a:off x="2971800" y="4553712"/>
            <a:ext cx="233172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[task]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7" name="wp-grid-r6c4">
            <a:extLst>
              <a:ext uri="{FF2B5EF4-FFF2-40B4-BE49-F238E27FC236}">
                <a16:creationId xmlns:a16="http://schemas.microsoft.com/office/drawing/2014/main" id="{0C2CA09A-EDA7-DF82-89D5-27BE5DF0B503}"/>
              </a:ext>
            </a:extLst>
          </p:cNvPr>
          <p:cNvSpPr/>
          <p:nvPr/>
        </p:nvSpPr>
        <p:spPr bwMode="auto">
          <a:xfrm>
            <a:off x="5303520" y="4553712"/>
            <a:ext cx="22402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[artifact]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8" name="wp-grid-r6c5">
            <a:extLst>
              <a:ext uri="{FF2B5EF4-FFF2-40B4-BE49-F238E27FC236}">
                <a16:creationId xmlns:a16="http://schemas.microsoft.com/office/drawing/2014/main" id="{88D30AE7-5352-B216-5A0C-64BE02D388ED}"/>
              </a:ext>
            </a:extLst>
          </p:cNvPr>
          <p:cNvSpPr/>
          <p:nvPr/>
        </p:nvSpPr>
        <p:spPr bwMode="auto">
          <a:xfrm>
            <a:off x="7543800" y="4553712"/>
            <a:ext cx="169164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[KPI]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9" name="wp-grid-r6c6">
            <a:extLst>
              <a:ext uri="{FF2B5EF4-FFF2-40B4-BE49-F238E27FC236}">
                <a16:creationId xmlns:a16="http://schemas.microsoft.com/office/drawing/2014/main" id="{7995BEEE-7473-358F-9A99-DDA6B2003138}"/>
              </a:ext>
            </a:extLst>
          </p:cNvPr>
          <p:cNvSpPr/>
          <p:nvPr/>
        </p:nvSpPr>
        <p:spPr bwMode="auto">
          <a:xfrm>
            <a:off x="9235440" y="4553712"/>
            <a:ext cx="164592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[Q5]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0" name="wp-note">
            <a:extLst>
              <a:ext uri="{FF2B5EF4-FFF2-40B4-BE49-F238E27FC236}">
                <a16:creationId xmlns:a16="http://schemas.microsoft.com/office/drawing/2014/main" id="{47DE02AB-40EF-B4FD-8A65-ACB16FC9CD7E}"/>
              </a:ext>
            </a:extLst>
          </p:cNvPr>
          <p:cNvSpPr/>
          <p:nvPr/>
        </p:nvSpPr>
        <p:spPr bwMode="auto">
          <a:xfrm>
            <a:off x="685800" y="5422392"/>
            <a:ext cx="10195560" cy="585216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3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[Use as a project-management page: one row per work package, one column per accountability dimension.]</a:t>
            </a: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194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19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evaluation_dashboard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eval-kpi1">
            <a:extLst>
              <a:ext uri="{FF2B5EF4-FFF2-40B4-BE49-F238E27FC236}">
                <a16:creationId xmlns:a16="http://schemas.microsoft.com/office/drawing/2014/main" id="{18141F7A-DACD-E915-1E23-2248D191D1F1}"/>
              </a:ext>
            </a:extLst>
          </p:cNvPr>
          <p:cNvSpPr/>
          <p:nvPr/>
        </p:nvSpPr>
        <p:spPr bwMode="auto">
          <a:xfrm>
            <a:off x="740664" y="1353312"/>
            <a:ext cx="2112264" cy="1938528"/>
          </a:xfrm>
          <a:prstGeom prst="roundRect">
            <a:avLst/>
          </a:prstGeom>
          <a:solidFill>
            <a:srgbClr val="EFF8F9"/>
          </a:solidFill>
          <a:ln w="10160">
            <a:solidFill>
              <a:srgbClr val="DAE3E9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eval-kpi1-accent">
            <a:extLst>
              <a:ext uri="{FF2B5EF4-FFF2-40B4-BE49-F238E27FC236}">
                <a16:creationId xmlns:a16="http://schemas.microsoft.com/office/drawing/2014/main" id="{F2E3EBB8-37D9-6F5E-816D-7ED11F6ABA3B}"/>
              </a:ext>
            </a:extLst>
          </p:cNvPr>
          <p:cNvSpPr/>
          <p:nvPr/>
        </p:nvSpPr>
        <p:spPr bwMode="auto">
          <a:xfrm>
            <a:off x="740664" y="1353312"/>
            <a:ext cx="64008" cy="1938528"/>
          </a:xfrm>
          <a:prstGeom prst="rect">
            <a:avLst/>
          </a:prstGeom>
          <a:solidFill>
            <a:srgbClr val="008A9A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eval-kpi1-value">
            <a:extLst>
              <a:ext uri="{FF2B5EF4-FFF2-40B4-BE49-F238E27FC236}">
                <a16:creationId xmlns:a16="http://schemas.microsoft.com/office/drawing/2014/main" id="{21B07307-F597-6E02-386D-F63313C322B1}"/>
              </a:ext>
            </a:extLst>
          </p:cNvPr>
          <p:cNvSpPr txBox="1"/>
          <p:nvPr/>
        </p:nvSpPr>
        <p:spPr>
          <a:xfrm>
            <a:off x="914400" y="1536192"/>
            <a:ext cx="1764792" cy="5669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008A9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[XX.X]</a:t>
            </a:r>
            <a:endParaRPr lang="zh-CN" altLang="en-US" sz="2500" b="1" dirty="0">
              <a:solidFill>
                <a:srgbClr val="008A9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eval-kpi1-label">
            <a:extLst>
              <a:ext uri="{FF2B5EF4-FFF2-40B4-BE49-F238E27FC236}">
                <a16:creationId xmlns:a16="http://schemas.microsoft.com/office/drawing/2014/main" id="{FAEF972C-BCD0-BA98-BFA1-80E6746C6D31}"/>
              </a:ext>
            </a:extLst>
          </p:cNvPr>
          <p:cNvSpPr txBox="1"/>
          <p:nvPr/>
        </p:nvSpPr>
        <p:spPr>
          <a:xfrm>
            <a:off x="923544" y="2157984"/>
            <a:ext cx="1737360" cy="51206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Quality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eval-kpi1-note">
            <a:extLst>
              <a:ext uri="{FF2B5EF4-FFF2-40B4-BE49-F238E27FC236}">
                <a16:creationId xmlns:a16="http://schemas.microsoft.com/office/drawing/2014/main" id="{68AF0612-D8D0-C406-98AC-6719C0E65C02}"/>
              </a:ext>
            </a:extLst>
          </p:cNvPr>
          <p:cNvSpPr txBox="1"/>
          <p:nvPr/>
        </p:nvSpPr>
        <p:spPr>
          <a:xfrm>
            <a:off x="923544" y="2743200"/>
            <a:ext cx="1737360" cy="40233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[benchmark split]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eval-kpi2">
            <a:extLst>
              <a:ext uri="{FF2B5EF4-FFF2-40B4-BE49-F238E27FC236}">
                <a16:creationId xmlns:a16="http://schemas.microsoft.com/office/drawing/2014/main" id="{8890CB65-077B-1413-7237-16C5132EC1DA}"/>
              </a:ext>
            </a:extLst>
          </p:cNvPr>
          <p:cNvSpPr/>
          <p:nvPr/>
        </p:nvSpPr>
        <p:spPr bwMode="auto">
          <a:xfrm>
            <a:off x="3099816" y="1353312"/>
            <a:ext cx="2112264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9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eval-kpi2-accent">
            <a:extLst>
              <a:ext uri="{FF2B5EF4-FFF2-40B4-BE49-F238E27FC236}">
                <a16:creationId xmlns:a16="http://schemas.microsoft.com/office/drawing/2014/main" id="{9CD1888D-C8C0-2D53-6BD6-7A3D711A32C4}"/>
              </a:ext>
            </a:extLst>
          </p:cNvPr>
          <p:cNvSpPr/>
          <p:nvPr/>
        </p:nvSpPr>
        <p:spPr bwMode="auto">
          <a:xfrm>
            <a:off x="3099816" y="1353312"/>
            <a:ext cx="64008" cy="1938528"/>
          </a:xfrm>
          <a:prstGeom prst="rect">
            <a:avLst/>
          </a:prstGeom>
          <a:solidFill>
            <a:srgbClr val="8FB0C3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1" name="eval-kpi2-value">
            <a:extLst>
              <a:ext uri="{FF2B5EF4-FFF2-40B4-BE49-F238E27FC236}">
                <a16:creationId xmlns:a16="http://schemas.microsoft.com/office/drawing/2014/main" id="{5852E7E7-4D9D-7D22-1B9E-04D7692E4BCC}"/>
              </a:ext>
            </a:extLst>
          </p:cNvPr>
          <p:cNvSpPr txBox="1"/>
          <p:nvPr/>
        </p:nvSpPr>
        <p:spPr>
          <a:xfrm>
            <a:off x="3273552" y="1536192"/>
            <a:ext cx="1764792" cy="5669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006A9E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[XX%]</a:t>
            </a:r>
            <a:endParaRPr lang="zh-CN" altLang="en-US" sz="2500" b="1" dirty="0">
              <a:solidFill>
                <a:srgbClr val="006A9E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eval-kpi2-label">
            <a:extLst>
              <a:ext uri="{FF2B5EF4-FFF2-40B4-BE49-F238E27FC236}">
                <a16:creationId xmlns:a16="http://schemas.microsoft.com/office/drawing/2014/main" id="{2746AD0A-292D-517D-1045-570E62603F6B}"/>
              </a:ext>
            </a:extLst>
          </p:cNvPr>
          <p:cNvSpPr txBox="1"/>
          <p:nvPr/>
        </p:nvSpPr>
        <p:spPr>
          <a:xfrm>
            <a:off x="3282696" y="2157984"/>
            <a:ext cx="1737360" cy="51206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Robustness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eval-kpi2-note">
            <a:extLst>
              <a:ext uri="{FF2B5EF4-FFF2-40B4-BE49-F238E27FC236}">
                <a16:creationId xmlns:a16="http://schemas.microsoft.com/office/drawing/2014/main" id="{ECA3786D-07E2-5A50-BFCA-6EE17CAFB8F5}"/>
              </a:ext>
            </a:extLst>
          </p:cNvPr>
          <p:cNvSpPr txBox="1"/>
          <p:nvPr/>
        </p:nvSpPr>
        <p:spPr>
          <a:xfrm>
            <a:off x="3282696" y="2743200"/>
            <a:ext cx="1737360" cy="40233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[stress tests]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eval-kpi3">
            <a:extLst>
              <a:ext uri="{FF2B5EF4-FFF2-40B4-BE49-F238E27FC236}">
                <a16:creationId xmlns:a16="http://schemas.microsoft.com/office/drawing/2014/main" id="{5F6F6951-0CA5-D705-227F-388A3542F0F0}"/>
              </a:ext>
            </a:extLst>
          </p:cNvPr>
          <p:cNvSpPr/>
          <p:nvPr/>
        </p:nvSpPr>
        <p:spPr bwMode="auto">
          <a:xfrm>
            <a:off x="5458968" y="1353312"/>
            <a:ext cx="2112264" cy="19385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3E9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eval-kpi3-accent">
            <a:extLst>
              <a:ext uri="{FF2B5EF4-FFF2-40B4-BE49-F238E27FC236}">
                <a16:creationId xmlns:a16="http://schemas.microsoft.com/office/drawing/2014/main" id="{00B27DB0-8E0B-49D8-D4A0-1EAA9C54500B}"/>
              </a:ext>
            </a:extLst>
          </p:cNvPr>
          <p:cNvSpPr/>
          <p:nvPr/>
        </p:nvSpPr>
        <p:spPr bwMode="auto">
          <a:xfrm>
            <a:off x="5458968" y="1353312"/>
            <a:ext cx="64008" cy="1938528"/>
          </a:xfrm>
          <a:prstGeom prst="rect">
            <a:avLst/>
          </a:prstGeom>
          <a:solidFill>
            <a:srgbClr val="8FB0C3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6" name="eval-kpi3-value">
            <a:extLst>
              <a:ext uri="{FF2B5EF4-FFF2-40B4-BE49-F238E27FC236}">
                <a16:creationId xmlns:a16="http://schemas.microsoft.com/office/drawing/2014/main" id="{12F3DEDB-6C17-ACE7-5A88-ACFC663D3DD3}"/>
              </a:ext>
            </a:extLst>
          </p:cNvPr>
          <p:cNvSpPr txBox="1"/>
          <p:nvPr/>
        </p:nvSpPr>
        <p:spPr>
          <a:xfrm>
            <a:off x="5632704" y="1536192"/>
            <a:ext cx="1764792" cy="5669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2500" b="1">
                <a:solidFill>
                  <a:srgbClr val="2563EB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[X ms]</a:t>
            </a:r>
            <a:endParaRPr lang="zh-CN" altLang="en-US" sz="2500" b="1" dirty="0">
              <a:solidFill>
                <a:srgbClr val="C4123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eval-kpi3-label">
            <a:extLst>
              <a:ext uri="{FF2B5EF4-FFF2-40B4-BE49-F238E27FC236}">
                <a16:creationId xmlns:a16="http://schemas.microsoft.com/office/drawing/2014/main" id="{4AD39DD8-6580-8857-6CF5-8A823493CE50}"/>
              </a:ext>
            </a:extLst>
          </p:cNvPr>
          <p:cNvSpPr txBox="1"/>
          <p:nvPr/>
        </p:nvSpPr>
        <p:spPr>
          <a:xfrm>
            <a:off x="5641848" y="2157984"/>
            <a:ext cx="1737360" cy="51206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Latency</a:t>
            </a:r>
            <a:endParaRPr lang="zh-CN" altLang="en-US" sz="11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eval-kpi3-note">
            <a:extLst>
              <a:ext uri="{FF2B5EF4-FFF2-40B4-BE49-F238E27FC236}">
                <a16:creationId xmlns:a16="http://schemas.microsoft.com/office/drawing/2014/main" id="{33244E29-F843-1EEC-F589-D0FBE5C42B0C}"/>
              </a:ext>
            </a:extLst>
          </p:cNvPr>
          <p:cNvSpPr txBox="1"/>
          <p:nvPr/>
        </p:nvSpPr>
        <p:spPr>
          <a:xfrm>
            <a:off x="5641848" y="2743200"/>
            <a:ext cx="1737360" cy="40233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vert="horz" wrap="square" lIns="128016" tIns="91440" rIns="128016" bIns="91440" rtlCol="0" anchor="t">
            <a:spAutoFit/>
          </a:bodyPr>
          <a:lstStyle/>
          <a:p>
            <a:r>
              <a:rPr lang="en-US" altLang="zh-CN" sz="1100">
                <a:solidFill>
                  <a:srgbClr val="5D718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[runtime setup]</a:t>
            </a:r>
            <a:endParaRPr lang="zh-CN" altLang="en-US" sz="800" dirty="0">
              <a:solidFill>
                <a:srgbClr val="5D718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eval-scope">
            <a:extLst>
              <a:ext uri="{FF2B5EF4-FFF2-40B4-BE49-F238E27FC236}">
                <a16:creationId xmlns:a16="http://schemas.microsoft.com/office/drawing/2014/main" id="{157F981A-9E7E-9094-8F68-30BB0C4A5852}"/>
              </a:ext>
            </a:extLst>
          </p:cNvPr>
          <p:cNvSpPr/>
          <p:nvPr/>
        </p:nvSpPr>
        <p:spPr bwMode="auto">
          <a:xfrm>
            <a:off x="8028431" y="1353312"/>
            <a:ext cx="3474720" cy="1938528"/>
          </a:xfrm>
          <a:prstGeom prst="roundRect">
            <a:avLst/>
          </a:prstGeom>
          <a:solidFill>
            <a:srgbClr val="FFF7E4"/>
          </a:solidFill>
          <a:ln w="7620">
            <a:noFill/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zh-CN" sz="15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[Evaluation scope]
[dataset / metric / scenario list]</a:t>
            </a: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eval-bars-panel">
            <a:extLst>
              <a:ext uri="{FF2B5EF4-FFF2-40B4-BE49-F238E27FC236}">
                <a16:creationId xmlns:a16="http://schemas.microsoft.com/office/drawing/2014/main" id="{82A9D6E6-A835-D3D8-FAC4-149709933E87}"/>
              </a:ext>
            </a:extLst>
          </p:cNvPr>
          <p:cNvSpPr/>
          <p:nvPr/>
        </p:nvSpPr>
        <p:spPr bwMode="auto">
          <a:xfrm>
            <a:off x="736600" y="3689665"/>
            <a:ext cx="6350000" cy="229965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1" name="eval-bar1-label">
            <a:extLst>
              <a:ext uri="{FF2B5EF4-FFF2-40B4-BE49-F238E27FC236}">
                <a16:creationId xmlns:a16="http://schemas.microsoft.com/office/drawing/2014/main" id="{D3CF3EDC-9A43-D8DD-B7CF-2CD403AB86E4}"/>
              </a:ext>
            </a:extLst>
          </p:cNvPr>
          <p:cNvSpPr txBox="1"/>
          <p:nvPr/>
        </p:nvSpPr>
        <p:spPr>
          <a:xfrm>
            <a:off x="1117600" y="4191702"/>
            <a:ext cx="679673" cy="209317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[Scenario A]</a:t>
            </a:r>
            <a:endParaRPr lang="zh-CN" altLang="en-US" sz="900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eval-bar1-track">
            <a:extLst>
              <a:ext uri="{FF2B5EF4-FFF2-40B4-BE49-F238E27FC236}">
                <a16:creationId xmlns:a16="http://schemas.microsoft.com/office/drawing/2014/main" id="{77C9AC1A-FB63-314A-5B33-38058AB9B23B}"/>
              </a:ext>
            </a:extLst>
          </p:cNvPr>
          <p:cNvSpPr/>
          <p:nvPr/>
        </p:nvSpPr>
        <p:spPr bwMode="auto">
          <a:xfrm>
            <a:off x="2616200" y="4240286"/>
            <a:ext cx="3556000" cy="226726"/>
          </a:xfrm>
          <a:prstGeom prst="rect">
            <a:avLst/>
          </a:prstGeom>
          <a:solidFill>
            <a:srgbClr val="E9F1F5"/>
          </a:solidFill>
          <a:ln w="1270">
            <a:solidFill>
              <a:srgbClr val="E9F1F5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3" name="eval-bar1-fill">
            <a:extLst>
              <a:ext uri="{FF2B5EF4-FFF2-40B4-BE49-F238E27FC236}">
                <a16:creationId xmlns:a16="http://schemas.microsoft.com/office/drawing/2014/main" id="{161367BB-4159-EA96-2B06-5DC98A60B2B2}"/>
              </a:ext>
            </a:extLst>
          </p:cNvPr>
          <p:cNvSpPr/>
          <p:nvPr/>
        </p:nvSpPr>
        <p:spPr bwMode="auto">
          <a:xfrm>
            <a:off x="2616200" y="4240286"/>
            <a:ext cx="2560320" cy="226726"/>
          </a:xfrm>
          <a:prstGeom prst="rect">
            <a:avLst/>
          </a:prstGeom>
          <a:solidFill>
            <a:srgbClr val="008A9A"/>
          </a:solidFill>
          <a:ln w="1270">
            <a:solidFill>
              <a:srgbClr val="008A9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4" name="eval-bar1-value">
            <a:extLst>
              <a:ext uri="{FF2B5EF4-FFF2-40B4-BE49-F238E27FC236}">
                <a16:creationId xmlns:a16="http://schemas.microsoft.com/office/drawing/2014/main" id="{93FFF5A0-DD14-9DB2-23F5-77257301A18C}"/>
              </a:ext>
            </a:extLst>
          </p:cNvPr>
          <p:cNvSpPr txBox="1"/>
          <p:nvPr/>
        </p:nvSpPr>
        <p:spPr>
          <a:xfrm>
            <a:off x="6248400" y="4191702"/>
            <a:ext cx="256480" cy="209317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[72]</a:t>
            </a:r>
            <a:endParaRPr lang="zh-CN" altLang="en-US" sz="9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eval-bar2-label">
            <a:extLst>
              <a:ext uri="{FF2B5EF4-FFF2-40B4-BE49-F238E27FC236}">
                <a16:creationId xmlns:a16="http://schemas.microsoft.com/office/drawing/2014/main" id="{4597C486-2850-8D9C-2077-3A10E3C061C0}"/>
              </a:ext>
            </a:extLst>
          </p:cNvPr>
          <p:cNvSpPr txBox="1"/>
          <p:nvPr/>
        </p:nvSpPr>
        <p:spPr>
          <a:xfrm>
            <a:off x="1117600" y="4774713"/>
            <a:ext cx="679673" cy="209317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[Scenario B]</a:t>
            </a:r>
            <a:endParaRPr lang="zh-CN" altLang="en-US" sz="900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eval-bar2-track">
            <a:extLst>
              <a:ext uri="{FF2B5EF4-FFF2-40B4-BE49-F238E27FC236}">
                <a16:creationId xmlns:a16="http://schemas.microsoft.com/office/drawing/2014/main" id="{5C8ED29E-7B8D-FBF5-DC72-1C1E4B2E5216}"/>
              </a:ext>
            </a:extLst>
          </p:cNvPr>
          <p:cNvSpPr/>
          <p:nvPr/>
        </p:nvSpPr>
        <p:spPr bwMode="auto">
          <a:xfrm>
            <a:off x="2616200" y="4823297"/>
            <a:ext cx="3556000" cy="226726"/>
          </a:xfrm>
          <a:prstGeom prst="rect">
            <a:avLst/>
          </a:prstGeom>
          <a:solidFill>
            <a:srgbClr val="E9F1F5"/>
          </a:solidFill>
          <a:ln w="1270">
            <a:solidFill>
              <a:srgbClr val="E9F1F5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7" name="eval-bar2-fill">
            <a:extLst>
              <a:ext uri="{FF2B5EF4-FFF2-40B4-BE49-F238E27FC236}">
                <a16:creationId xmlns:a16="http://schemas.microsoft.com/office/drawing/2014/main" id="{30639F6F-780E-CAF1-D5DB-8C58A8B4FE5E}"/>
              </a:ext>
            </a:extLst>
          </p:cNvPr>
          <p:cNvSpPr/>
          <p:nvPr/>
        </p:nvSpPr>
        <p:spPr bwMode="auto">
          <a:xfrm>
            <a:off x="2616200" y="4823297"/>
            <a:ext cx="2062480" cy="226726"/>
          </a:xfrm>
          <a:prstGeom prst="rect">
            <a:avLst/>
          </a:prstGeom>
          <a:solidFill>
            <a:srgbClr val="006A9E"/>
          </a:solidFill>
          <a:ln w="1270">
            <a:solidFill>
              <a:srgbClr val="006A9E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8" name="eval-bar2-value">
            <a:extLst>
              <a:ext uri="{FF2B5EF4-FFF2-40B4-BE49-F238E27FC236}">
                <a16:creationId xmlns:a16="http://schemas.microsoft.com/office/drawing/2014/main" id="{0B3A3996-F7C8-51F5-B470-FACFE4C604A8}"/>
              </a:ext>
            </a:extLst>
          </p:cNvPr>
          <p:cNvSpPr txBox="1"/>
          <p:nvPr/>
        </p:nvSpPr>
        <p:spPr>
          <a:xfrm>
            <a:off x="6248400" y="4774713"/>
            <a:ext cx="256480" cy="209317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[58]</a:t>
            </a:r>
            <a:endParaRPr lang="zh-CN" altLang="en-US" sz="9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eval-bar3-label">
            <a:extLst>
              <a:ext uri="{FF2B5EF4-FFF2-40B4-BE49-F238E27FC236}">
                <a16:creationId xmlns:a16="http://schemas.microsoft.com/office/drawing/2014/main" id="{E30C16EB-A683-3B2B-85B2-05BBAC9F2552}"/>
              </a:ext>
            </a:extLst>
          </p:cNvPr>
          <p:cNvSpPr txBox="1"/>
          <p:nvPr/>
        </p:nvSpPr>
        <p:spPr>
          <a:xfrm>
            <a:off x="1117600" y="5357724"/>
            <a:ext cx="686085" cy="209317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[Scenario C]</a:t>
            </a:r>
            <a:endParaRPr lang="zh-CN" altLang="en-US" sz="900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eval-bar3-track">
            <a:extLst>
              <a:ext uri="{FF2B5EF4-FFF2-40B4-BE49-F238E27FC236}">
                <a16:creationId xmlns:a16="http://schemas.microsoft.com/office/drawing/2014/main" id="{B9E0D5C7-F9ED-1AFF-CCE2-4AE137C7A735}"/>
              </a:ext>
            </a:extLst>
          </p:cNvPr>
          <p:cNvSpPr/>
          <p:nvPr/>
        </p:nvSpPr>
        <p:spPr bwMode="auto">
          <a:xfrm>
            <a:off x="2616200" y="5406308"/>
            <a:ext cx="3556000" cy="226726"/>
          </a:xfrm>
          <a:prstGeom prst="rect">
            <a:avLst/>
          </a:prstGeom>
          <a:solidFill>
            <a:srgbClr val="E9F1F5"/>
          </a:solidFill>
          <a:ln w="1270">
            <a:solidFill>
              <a:srgbClr val="E9F1F5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31" name="eval-bar3-fill">
            <a:extLst>
              <a:ext uri="{FF2B5EF4-FFF2-40B4-BE49-F238E27FC236}">
                <a16:creationId xmlns:a16="http://schemas.microsoft.com/office/drawing/2014/main" id="{A701E3F2-A890-4055-CF5C-2D0480D25C9C}"/>
              </a:ext>
            </a:extLst>
          </p:cNvPr>
          <p:cNvSpPr/>
          <p:nvPr/>
        </p:nvSpPr>
        <p:spPr bwMode="auto">
          <a:xfrm>
            <a:off x="2616200" y="5406308"/>
            <a:ext cx="1564640" cy="226726"/>
          </a:xfrm>
          <a:prstGeom prst="rect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32" name="eval-bar3-value">
            <a:extLst>
              <a:ext uri="{FF2B5EF4-FFF2-40B4-BE49-F238E27FC236}">
                <a16:creationId xmlns:a16="http://schemas.microsoft.com/office/drawing/2014/main" id="{E4FC6C29-FE99-E564-3783-28ACB91B6337}"/>
              </a:ext>
            </a:extLst>
          </p:cNvPr>
          <p:cNvSpPr txBox="1"/>
          <p:nvPr/>
        </p:nvSpPr>
        <p:spPr>
          <a:xfrm>
            <a:off x="6248400" y="5357724"/>
            <a:ext cx="256480" cy="209317"/>
          </a:xfrm>
          <a:prstGeom prst="rect">
            <a:avLst/>
          </a:prstGeom>
          <a:noFill/>
          <a:ln>
            <a:solidFill/>
          </a:ln>
        </p:spPr>
        <p:txBody>
          <a:bodyPr vert="horz" wrap="square" lIns="25400" tIns="12700" rIns="25400" bIns="12700" rtlCol="0" anchor="t">
            <a:spAutoFit/>
          </a:bodyPr>
          <a:lstStyle/>
          <a:p>
            <a:r>
              <a:rPr lang="en-US" altLang="zh-CN" sz="1100" b="1">
                <a:solidFill>
                  <a:srgbClr val="16324A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/>
              </a:rPr>
              <a:t>[44]</a:t>
            </a:r>
            <a:endParaRPr lang="zh-CN" altLang="en-US" sz="900" b="1" dirty="0">
              <a:solidFill>
                <a:srgbClr val="16324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eval-status-grid-r1c1">
            <a:extLst>
              <a:ext uri="{FF2B5EF4-FFF2-40B4-BE49-F238E27FC236}">
                <a16:creationId xmlns:a16="http://schemas.microsoft.com/office/drawing/2014/main" id="{259772B4-A65C-12CE-8E17-B8C28CDFF9BA}"/>
              </a:ext>
            </a:extLst>
          </p:cNvPr>
          <p:cNvSpPr/>
          <p:nvPr/>
        </p:nvSpPr>
        <p:spPr bwMode="auto">
          <a:xfrm>
            <a:off x="7543800" y="3689665"/>
            <a:ext cx="1117600" cy="574913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Risk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4" name="eval-status-grid-r1c2">
            <a:extLst>
              <a:ext uri="{FF2B5EF4-FFF2-40B4-BE49-F238E27FC236}">
                <a16:creationId xmlns:a16="http://schemas.microsoft.com/office/drawing/2014/main" id="{5D5EF01F-BF38-60BD-6EAD-200DBFB08620}"/>
              </a:ext>
            </a:extLst>
          </p:cNvPr>
          <p:cNvSpPr/>
          <p:nvPr/>
        </p:nvSpPr>
        <p:spPr bwMode="auto">
          <a:xfrm>
            <a:off x="8661400" y="3689665"/>
            <a:ext cx="1117600" cy="574913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Status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5" name="eval-status-grid-r1c3">
            <a:extLst>
              <a:ext uri="{FF2B5EF4-FFF2-40B4-BE49-F238E27FC236}">
                <a16:creationId xmlns:a16="http://schemas.microsoft.com/office/drawing/2014/main" id="{E91F8002-B309-E24C-279C-EC2F7BF9C57D}"/>
              </a:ext>
            </a:extLst>
          </p:cNvPr>
          <p:cNvSpPr/>
          <p:nvPr/>
        </p:nvSpPr>
        <p:spPr bwMode="auto">
          <a:xfrm>
            <a:off x="9779000" y="3689665"/>
            <a:ext cx="1117600" cy="574913"/>
          </a:xfrm>
          <a:prstGeom prst="rect">
            <a:avLst/>
          </a:prstGeom>
          <a:solidFill>
            <a:srgbClr val="0F3A56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Owner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6" name="eval-status-grid-r2c1">
            <a:extLst>
              <a:ext uri="{FF2B5EF4-FFF2-40B4-BE49-F238E27FC236}">
                <a16:creationId xmlns:a16="http://schemas.microsoft.com/office/drawing/2014/main" id="{C0F8A833-EF3A-FDBD-5D80-ED4B96B187AD}"/>
              </a:ext>
            </a:extLst>
          </p:cNvPr>
          <p:cNvSpPr/>
          <p:nvPr/>
        </p:nvSpPr>
        <p:spPr bwMode="auto">
          <a:xfrm>
            <a:off x="7543800" y="4264578"/>
            <a:ext cx="1117600" cy="574913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[data]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7" name="eval-status-grid-r2c2">
            <a:extLst>
              <a:ext uri="{FF2B5EF4-FFF2-40B4-BE49-F238E27FC236}">
                <a16:creationId xmlns:a16="http://schemas.microsoft.com/office/drawing/2014/main" id="{48CF0598-56A3-5A6E-7B6B-5F4DE9731031}"/>
              </a:ext>
            </a:extLst>
          </p:cNvPr>
          <p:cNvSpPr/>
          <p:nvPr/>
        </p:nvSpPr>
        <p:spPr bwMode="auto">
          <a:xfrm>
            <a:off x="8661400" y="4264578"/>
            <a:ext cx="1117600" cy="574913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[green]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8" name="eval-status-grid-r2c3">
            <a:extLst>
              <a:ext uri="{FF2B5EF4-FFF2-40B4-BE49-F238E27FC236}">
                <a16:creationId xmlns:a16="http://schemas.microsoft.com/office/drawing/2014/main" id="{7AF05158-37D7-F7FA-8355-1B6013F13583}"/>
              </a:ext>
            </a:extLst>
          </p:cNvPr>
          <p:cNvSpPr/>
          <p:nvPr/>
        </p:nvSpPr>
        <p:spPr bwMode="auto">
          <a:xfrm>
            <a:off x="9779000" y="4264578"/>
            <a:ext cx="1117600" cy="574913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9" name="eval-status-grid-r3c1">
            <a:extLst>
              <a:ext uri="{FF2B5EF4-FFF2-40B4-BE49-F238E27FC236}">
                <a16:creationId xmlns:a16="http://schemas.microsoft.com/office/drawing/2014/main" id="{E02D9008-8174-07D9-9201-D9332CC92B1E}"/>
              </a:ext>
            </a:extLst>
          </p:cNvPr>
          <p:cNvSpPr/>
          <p:nvPr/>
        </p:nvSpPr>
        <p:spPr bwMode="auto">
          <a:xfrm>
            <a:off x="7543800" y="4839492"/>
            <a:ext cx="1117600" cy="574913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[model]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0" name="eval-status-grid-r3c2">
            <a:extLst>
              <a:ext uri="{FF2B5EF4-FFF2-40B4-BE49-F238E27FC236}">
                <a16:creationId xmlns:a16="http://schemas.microsoft.com/office/drawing/2014/main" id="{A111CA6C-015E-602A-A7F9-9D8DCE7D1AFB}"/>
              </a:ext>
            </a:extLst>
          </p:cNvPr>
          <p:cNvSpPr/>
          <p:nvPr/>
        </p:nvSpPr>
        <p:spPr bwMode="auto">
          <a:xfrm>
            <a:off x="8661400" y="4839492"/>
            <a:ext cx="1117600" cy="574913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[yellow]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1" name="eval-status-grid-r3c3">
            <a:extLst>
              <a:ext uri="{FF2B5EF4-FFF2-40B4-BE49-F238E27FC236}">
                <a16:creationId xmlns:a16="http://schemas.microsoft.com/office/drawing/2014/main" id="{7A852A76-63E5-6F9F-D57A-E109AC356BE6}"/>
              </a:ext>
            </a:extLst>
          </p:cNvPr>
          <p:cNvSpPr/>
          <p:nvPr/>
        </p:nvSpPr>
        <p:spPr bwMode="auto">
          <a:xfrm>
            <a:off x="9779000" y="4839492"/>
            <a:ext cx="1117600" cy="574913"/>
          </a:xfrm>
          <a:prstGeom prst="rect">
            <a:avLst/>
          </a:prstGeom>
          <a:solidFill>
            <a:srgbClr val="F8FBFC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2" name="eval-status-grid-r4c1">
            <a:extLst>
              <a:ext uri="{FF2B5EF4-FFF2-40B4-BE49-F238E27FC236}">
                <a16:creationId xmlns:a16="http://schemas.microsoft.com/office/drawing/2014/main" id="{E8EB1403-8420-7299-1957-CD758CCE2F8E}"/>
              </a:ext>
            </a:extLst>
          </p:cNvPr>
          <p:cNvSpPr/>
          <p:nvPr/>
        </p:nvSpPr>
        <p:spPr bwMode="auto">
          <a:xfrm>
            <a:off x="7543800" y="5414406"/>
            <a:ext cx="1117600" cy="574913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[system]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3" name="eval-status-grid-r4c2">
            <a:extLst>
              <a:ext uri="{FF2B5EF4-FFF2-40B4-BE49-F238E27FC236}">
                <a16:creationId xmlns:a16="http://schemas.microsoft.com/office/drawing/2014/main" id="{77C15FC3-2D28-E8F9-3421-F02F80A64C75}"/>
              </a:ext>
            </a:extLst>
          </p:cNvPr>
          <p:cNvSpPr/>
          <p:nvPr/>
        </p:nvSpPr>
        <p:spPr bwMode="auto">
          <a:xfrm>
            <a:off x="8661400" y="5414406"/>
            <a:ext cx="1117600" cy="574913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[red]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4" name="eval-status-grid-r4c3">
            <a:extLst>
              <a:ext uri="{FF2B5EF4-FFF2-40B4-BE49-F238E27FC236}">
                <a16:creationId xmlns:a16="http://schemas.microsoft.com/office/drawing/2014/main" id="{A7E6B9B8-7380-E3FD-102F-DA390B4E81A0}"/>
              </a:ext>
            </a:extLst>
          </p:cNvPr>
          <p:cNvSpPr/>
          <p:nvPr/>
        </p:nvSpPr>
        <p:spPr bwMode="auto">
          <a:xfrm>
            <a:off x="9779000" y="5414406"/>
            <a:ext cx="1117600" cy="574913"/>
          </a:xfrm>
          <a:prstGeom prst="rect">
            <a:avLst/>
          </a:prstGeom>
          <a:solidFill>
            <a:srgbClr val="FFFFFF"/>
          </a:solidFill>
          <a:ln w="8890">
            <a:solidFill>
              <a:srgbClr val="BFD0DA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2704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20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risk_action_table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risk-grid-r1c1">
            <a:extLst>
              <a:ext uri="{FF2B5EF4-FFF2-40B4-BE49-F238E27FC236}">
                <a16:creationId xmlns:a16="http://schemas.microsoft.com/office/drawing/2014/main" id="{6EA11EA9-6001-7634-3B89-E9C60E400489}"/>
              </a:ext>
            </a:extLst>
          </p:cNvPr>
          <p:cNvSpPr/>
          <p:nvPr/>
        </p:nvSpPr>
        <p:spPr bwMode="auto">
          <a:xfrm>
            <a:off x="685800" y="1353312"/>
            <a:ext cx="182880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Risk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" name="risk-grid-r1c2">
            <a:extLst>
              <a:ext uri="{FF2B5EF4-FFF2-40B4-BE49-F238E27FC236}">
                <a16:creationId xmlns:a16="http://schemas.microsoft.com/office/drawing/2014/main" id="{46CB99FD-3AA3-FAA0-4561-6D129CC23CF9}"/>
              </a:ext>
            </a:extLst>
          </p:cNvPr>
          <p:cNvSpPr/>
          <p:nvPr/>
        </p:nvSpPr>
        <p:spPr bwMode="auto">
          <a:xfrm>
            <a:off x="2514600" y="1353312"/>
            <a:ext cx="201168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Trigger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4" name="risk-grid-r1c3">
            <a:extLst>
              <a:ext uri="{FF2B5EF4-FFF2-40B4-BE49-F238E27FC236}">
                <a16:creationId xmlns:a16="http://schemas.microsoft.com/office/drawing/2014/main" id="{EFBD6747-2012-EEB3-19AD-C461B6DBA3F8}"/>
              </a:ext>
            </a:extLst>
          </p:cNvPr>
          <p:cNvSpPr/>
          <p:nvPr/>
        </p:nvSpPr>
        <p:spPr bwMode="auto">
          <a:xfrm>
            <a:off x="4526280" y="1353312"/>
            <a:ext cx="214884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Impact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5" name="risk-grid-r1c4">
            <a:extLst>
              <a:ext uri="{FF2B5EF4-FFF2-40B4-BE49-F238E27FC236}">
                <a16:creationId xmlns:a16="http://schemas.microsoft.com/office/drawing/2014/main" id="{3052B794-85B4-36D0-4B16-6249F32CF586}"/>
              </a:ext>
            </a:extLst>
          </p:cNvPr>
          <p:cNvSpPr/>
          <p:nvPr/>
        </p:nvSpPr>
        <p:spPr bwMode="auto">
          <a:xfrm>
            <a:off x="6675120" y="1353312"/>
            <a:ext cx="342900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Action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8" name="risk-grid-r1c5">
            <a:extLst>
              <a:ext uri="{FF2B5EF4-FFF2-40B4-BE49-F238E27FC236}">
                <a16:creationId xmlns:a16="http://schemas.microsoft.com/office/drawing/2014/main" id="{F465CB15-09FB-3AD8-078B-5B90950A0A36}"/>
              </a:ext>
            </a:extLst>
          </p:cNvPr>
          <p:cNvSpPr/>
          <p:nvPr/>
        </p:nvSpPr>
        <p:spPr bwMode="auto">
          <a:xfrm>
            <a:off x="10104120" y="1353312"/>
            <a:ext cx="1097280" cy="640080"/>
          </a:xfrm>
          <a:prstGeom prst="rect">
            <a:avLst/>
          </a:prstGeom>
          <a:solidFill>
            <a:srgbClr val="123D52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Owner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9" name="risk-grid-r2c1">
            <a:extLst>
              <a:ext uri="{FF2B5EF4-FFF2-40B4-BE49-F238E27FC236}">
                <a16:creationId xmlns:a16="http://schemas.microsoft.com/office/drawing/2014/main" id="{3931F810-94D8-EA4C-7A22-7642A7CC9737}"/>
              </a:ext>
            </a:extLst>
          </p:cNvPr>
          <p:cNvSpPr/>
          <p:nvPr/>
        </p:nvSpPr>
        <p:spPr bwMode="auto">
          <a:xfrm>
            <a:off x="685800" y="1993391"/>
            <a:ext cx="182880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[Risk 1]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0" name="risk-grid-r2c2">
            <a:extLst>
              <a:ext uri="{FF2B5EF4-FFF2-40B4-BE49-F238E27FC236}">
                <a16:creationId xmlns:a16="http://schemas.microsoft.com/office/drawing/2014/main" id="{C75C44ED-D929-0A6B-F382-18CEA3D65140}"/>
              </a:ext>
            </a:extLst>
          </p:cNvPr>
          <p:cNvSpPr/>
          <p:nvPr/>
        </p:nvSpPr>
        <p:spPr bwMode="auto">
          <a:xfrm>
            <a:off x="2514600" y="1993391"/>
            <a:ext cx="20116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[condition]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1" name="risk-grid-r2c3">
            <a:extLst>
              <a:ext uri="{FF2B5EF4-FFF2-40B4-BE49-F238E27FC236}">
                <a16:creationId xmlns:a16="http://schemas.microsoft.com/office/drawing/2014/main" id="{71406EBD-7167-213E-ABD5-CADE38648B83}"/>
              </a:ext>
            </a:extLst>
          </p:cNvPr>
          <p:cNvSpPr/>
          <p:nvPr/>
        </p:nvSpPr>
        <p:spPr bwMode="auto">
          <a:xfrm>
            <a:off x="4526280" y="1993391"/>
            <a:ext cx="214884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High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2" name="risk-grid-r2c4">
            <a:extLst>
              <a:ext uri="{FF2B5EF4-FFF2-40B4-BE49-F238E27FC236}">
                <a16:creationId xmlns:a16="http://schemas.microsoft.com/office/drawing/2014/main" id="{724D3A67-97B6-E737-B016-AD202062C0C0}"/>
              </a:ext>
            </a:extLst>
          </p:cNvPr>
          <p:cNvSpPr/>
          <p:nvPr/>
        </p:nvSpPr>
        <p:spPr bwMode="auto">
          <a:xfrm>
            <a:off x="6675120" y="1993391"/>
            <a:ext cx="342900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[mitigation]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3" name="risk-grid-r2c5">
            <a:extLst>
              <a:ext uri="{FF2B5EF4-FFF2-40B4-BE49-F238E27FC236}">
                <a16:creationId xmlns:a16="http://schemas.microsoft.com/office/drawing/2014/main" id="{4C56CFC4-9526-4658-F516-8EC396BF2E8D}"/>
              </a:ext>
            </a:extLst>
          </p:cNvPr>
          <p:cNvSpPr/>
          <p:nvPr/>
        </p:nvSpPr>
        <p:spPr bwMode="auto">
          <a:xfrm>
            <a:off x="10104120" y="1993391"/>
            <a:ext cx="10972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4" name="risk-grid-r3c1">
            <a:extLst>
              <a:ext uri="{FF2B5EF4-FFF2-40B4-BE49-F238E27FC236}">
                <a16:creationId xmlns:a16="http://schemas.microsoft.com/office/drawing/2014/main" id="{B41CBC35-B637-61AF-9E8D-9209985B8181}"/>
              </a:ext>
            </a:extLst>
          </p:cNvPr>
          <p:cNvSpPr/>
          <p:nvPr/>
        </p:nvSpPr>
        <p:spPr bwMode="auto">
          <a:xfrm>
            <a:off x="685800" y="2633472"/>
            <a:ext cx="182880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[Risk 2]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5" name="risk-grid-r3c2">
            <a:extLst>
              <a:ext uri="{FF2B5EF4-FFF2-40B4-BE49-F238E27FC236}">
                <a16:creationId xmlns:a16="http://schemas.microsoft.com/office/drawing/2014/main" id="{F8B11A79-705A-2EB6-6E99-BD9137ECE256}"/>
              </a:ext>
            </a:extLst>
          </p:cNvPr>
          <p:cNvSpPr/>
          <p:nvPr/>
        </p:nvSpPr>
        <p:spPr bwMode="auto">
          <a:xfrm>
            <a:off x="2514600" y="2633472"/>
            <a:ext cx="201168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[condition]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6" name="risk-grid-r3c3">
            <a:extLst>
              <a:ext uri="{FF2B5EF4-FFF2-40B4-BE49-F238E27FC236}">
                <a16:creationId xmlns:a16="http://schemas.microsoft.com/office/drawing/2014/main" id="{001DBBCF-C7DB-6AA9-19CB-7DA49A6D38CB}"/>
              </a:ext>
            </a:extLst>
          </p:cNvPr>
          <p:cNvSpPr/>
          <p:nvPr/>
        </p:nvSpPr>
        <p:spPr bwMode="auto">
          <a:xfrm>
            <a:off x="4526280" y="2633472"/>
            <a:ext cx="214884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Medium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7" name="risk-grid-r3c4">
            <a:extLst>
              <a:ext uri="{FF2B5EF4-FFF2-40B4-BE49-F238E27FC236}">
                <a16:creationId xmlns:a16="http://schemas.microsoft.com/office/drawing/2014/main" id="{4919CA69-CAD3-3992-2768-83D46179586F}"/>
              </a:ext>
            </a:extLst>
          </p:cNvPr>
          <p:cNvSpPr/>
          <p:nvPr/>
        </p:nvSpPr>
        <p:spPr bwMode="auto">
          <a:xfrm>
            <a:off x="6675120" y="2633472"/>
            <a:ext cx="342900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[mitigation]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8" name="risk-grid-r3c5">
            <a:extLst>
              <a:ext uri="{FF2B5EF4-FFF2-40B4-BE49-F238E27FC236}">
                <a16:creationId xmlns:a16="http://schemas.microsoft.com/office/drawing/2014/main" id="{F642C20E-7888-26E3-30B7-51F71BA9E7DE}"/>
              </a:ext>
            </a:extLst>
          </p:cNvPr>
          <p:cNvSpPr/>
          <p:nvPr/>
        </p:nvSpPr>
        <p:spPr bwMode="auto">
          <a:xfrm>
            <a:off x="10104120" y="2633472"/>
            <a:ext cx="109728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19" name="risk-grid-r4c1">
            <a:extLst>
              <a:ext uri="{FF2B5EF4-FFF2-40B4-BE49-F238E27FC236}">
                <a16:creationId xmlns:a16="http://schemas.microsoft.com/office/drawing/2014/main" id="{D87E1306-63FD-32A3-FB0A-6A1DE25020A6}"/>
              </a:ext>
            </a:extLst>
          </p:cNvPr>
          <p:cNvSpPr/>
          <p:nvPr/>
        </p:nvSpPr>
        <p:spPr bwMode="auto">
          <a:xfrm>
            <a:off x="685800" y="3273551"/>
            <a:ext cx="182880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[Risk 3]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0" name="risk-grid-r4c2">
            <a:extLst>
              <a:ext uri="{FF2B5EF4-FFF2-40B4-BE49-F238E27FC236}">
                <a16:creationId xmlns:a16="http://schemas.microsoft.com/office/drawing/2014/main" id="{1D4197E5-3DAD-D4C4-069A-6E89D9382EF0}"/>
              </a:ext>
            </a:extLst>
          </p:cNvPr>
          <p:cNvSpPr/>
          <p:nvPr/>
        </p:nvSpPr>
        <p:spPr bwMode="auto">
          <a:xfrm>
            <a:off x="2514600" y="3273551"/>
            <a:ext cx="20116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[condition]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1" name="risk-grid-r4c3">
            <a:extLst>
              <a:ext uri="{FF2B5EF4-FFF2-40B4-BE49-F238E27FC236}">
                <a16:creationId xmlns:a16="http://schemas.microsoft.com/office/drawing/2014/main" id="{EF5316BC-EEAB-3B4B-B9A0-E6F84FD56689}"/>
              </a:ext>
            </a:extLst>
          </p:cNvPr>
          <p:cNvSpPr/>
          <p:nvPr/>
        </p:nvSpPr>
        <p:spPr bwMode="auto">
          <a:xfrm>
            <a:off x="4526280" y="3273551"/>
            <a:ext cx="214884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Medium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2" name="risk-grid-r4c4">
            <a:extLst>
              <a:ext uri="{FF2B5EF4-FFF2-40B4-BE49-F238E27FC236}">
                <a16:creationId xmlns:a16="http://schemas.microsoft.com/office/drawing/2014/main" id="{2F72E034-EC77-BAE9-9677-4EBBC6FD84DB}"/>
              </a:ext>
            </a:extLst>
          </p:cNvPr>
          <p:cNvSpPr/>
          <p:nvPr/>
        </p:nvSpPr>
        <p:spPr bwMode="auto">
          <a:xfrm>
            <a:off x="6675120" y="3273551"/>
            <a:ext cx="342900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[mitigation]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3" name="risk-grid-r4c5">
            <a:extLst>
              <a:ext uri="{FF2B5EF4-FFF2-40B4-BE49-F238E27FC236}">
                <a16:creationId xmlns:a16="http://schemas.microsoft.com/office/drawing/2014/main" id="{E8C0C26D-A190-8C67-7CA2-2426D95875CD}"/>
              </a:ext>
            </a:extLst>
          </p:cNvPr>
          <p:cNvSpPr/>
          <p:nvPr/>
        </p:nvSpPr>
        <p:spPr bwMode="auto">
          <a:xfrm>
            <a:off x="10104120" y="3273551"/>
            <a:ext cx="10972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4" name="risk-grid-r5c1">
            <a:extLst>
              <a:ext uri="{FF2B5EF4-FFF2-40B4-BE49-F238E27FC236}">
                <a16:creationId xmlns:a16="http://schemas.microsoft.com/office/drawing/2014/main" id="{F61FB11A-66CC-E36D-2E30-5235AD31D7E4}"/>
              </a:ext>
            </a:extLst>
          </p:cNvPr>
          <p:cNvSpPr/>
          <p:nvPr/>
        </p:nvSpPr>
        <p:spPr bwMode="auto">
          <a:xfrm>
            <a:off x="685800" y="3913631"/>
            <a:ext cx="182880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[Risk 4]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5" name="risk-grid-r5c2">
            <a:extLst>
              <a:ext uri="{FF2B5EF4-FFF2-40B4-BE49-F238E27FC236}">
                <a16:creationId xmlns:a16="http://schemas.microsoft.com/office/drawing/2014/main" id="{BEEDDC8B-9961-1DA2-E1C4-947CAA018E92}"/>
              </a:ext>
            </a:extLst>
          </p:cNvPr>
          <p:cNvSpPr/>
          <p:nvPr/>
        </p:nvSpPr>
        <p:spPr bwMode="auto">
          <a:xfrm>
            <a:off x="2514600" y="3913631"/>
            <a:ext cx="201168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[condition]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6" name="risk-grid-r5c3">
            <a:extLst>
              <a:ext uri="{FF2B5EF4-FFF2-40B4-BE49-F238E27FC236}">
                <a16:creationId xmlns:a16="http://schemas.microsoft.com/office/drawing/2014/main" id="{D5B5F1B4-0F87-F3E7-B714-65FC94BA606F}"/>
              </a:ext>
            </a:extLst>
          </p:cNvPr>
          <p:cNvSpPr/>
          <p:nvPr/>
        </p:nvSpPr>
        <p:spPr bwMode="auto">
          <a:xfrm>
            <a:off x="4526280" y="3913631"/>
            <a:ext cx="214884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Low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7" name="risk-grid-r5c4">
            <a:extLst>
              <a:ext uri="{FF2B5EF4-FFF2-40B4-BE49-F238E27FC236}">
                <a16:creationId xmlns:a16="http://schemas.microsoft.com/office/drawing/2014/main" id="{BCAD9CA7-5041-84F6-2F1A-2A2BA05BDB9D}"/>
              </a:ext>
            </a:extLst>
          </p:cNvPr>
          <p:cNvSpPr/>
          <p:nvPr/>
        </p:nvSpPr>
        <p:spPr bwMode="auto">
          <a:xfrm>
            <a:off x="6675120" y="3913631"/>
            <a:ext cx="342900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[mitigation]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8" name="risk-grid-r5c5">
            <a:extLst>
              <a:ext uri="{FF2B5EF4-FFF2-40B4-BE49-F238E27FC236}">
                <a16:creationId xmlns:a16="http://schemas.microsoft.com/office/drawing/2014/main" id="{93CED8B2-D061-F013-1F21-EA73FE249DCD}"/>
              </a:ext>
            </a:extLst>
          </p:cNvPr>
          <p:cNvSpPr/>
          <p:nvPr/>
        </p:nvSpPr>
        <p:spPr bwMode="auto">
          <a:xfrm>
            <a:off x="10104120" y="3913631"/>
            <a:ext cx="1097280" cy="640080"/>
          </a:xfrm>
          <a:prstGeom prst="rect">
            <a:avLst/>
          </a:prstGeom>
          <a:solidFill>
            <a:srgbClr val="FFFFFF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29" name="risk-grid-r6c1">
            <a:extLst>
              <a:ext uri="{FF2B5EF4-FFF2-40B4-BE49-F238E27FC236}">
                <a16:creationId xmlns:a16="http://schemas.microsoft.com/office/drawing/2014/main" id="{52D56A00-7A5E-AE19-3F59-943A044AE085}"/>
              </a:ext>
            </a:extLst>
          </p:cNvPr>
          <p:cNvSpPr/>
          <p:nvPr/>
        </p:nvSpPr>
        <p:spPr bwMode="auto">
          <a:xfrm>
            <a:off x="685800" y="4553712"/>
            <a:ext cx="182880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[Risk 5]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0" name="risk-grid-r6c2">
            <a:extLst>
              <a:ext uri="{FF2B5EF4-FFF2-40B4-BE49-F238E27FC236}">
                <a16:creationId xmlns:a16="http://schemas.microsoft.com/office/drawing/2014/main" id="{BAD49CC1-B5F3-F014-8BB2-D8E92BB50844}"/>
              </a:ext>
            </a:extLst>
          </p:cNvPr>
          <p:cNvSpPr/>
          <p:nvPr/>
        </p:nvSpPr>
        <p:spPr bwMode="auto">
          <a:xfrm>
            <a:off x="2514600" y="4553712"/>
            <a:ext cx="20116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[condition]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1" name="risk-grid-r6c3">
            <a:extLst>
              <a:ext uri="{FF2B5EF4-FFF2-40B4-BE49-F238E27FC236}">
                <a16:creationId xmlns:a16="http://schemas.microsoft.com/office/drawing/2014/main" id="{229DA89D-78F9-6386-852E-11A33E9CC6C0}"/>
              </a:ext>
            </a:extLst>
          </p:cNvPr>
          <p:cNvSpPr/>
          <p:nvPr/>
        </p:nvSpPr>
        <p:spPr bwMode="auto">
          <a:xfrm>
            <a:off x="4526280" y="4553712"/>
            <a:ext cx="214884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Low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2" name="risk-grid-r6c4">
            <a:extLst>
              <a:ext uri="{FF2B5EF4-FFF2-40B4-BE49-F238E27FC236}">
                <a16:creationId xmlns:a16="http://schemas.microsoft.com/office/drawing/2014/main" id="{73FA041A-E6E4-04B3-9638-12067FC39AD7}"/>
              </a:ext>
            </a:extLst>
          </p:cNvPr>
          <p:cNvSpPr/>
          <p:nvPr/>
        </p:nvSpPr>
        <p:spPr bwMode="auto">
          <a:xfrm>
            <a:off x="6675120" y="4553712"/>
            <a:ext cx="342900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[mitigation]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3" name="risk-grid-r6c5">
            <a:extLst>
              <a:ext uri="{FF2B5EF4-FFF2-40B4-BE49-F238E27FC236}">
                <a16:creationId xmlns:a16="http://schemas.microsoft.com/office/drawing/2014/main" id="{488C9CA2-ACB1-5EB8-F4CD-D42A69D16894}"/>
              </a:ext>
            </a:extLst>
          </p:cNvPr>
          <p:cNvSpPr/>
          <p:nvPr/>
        </p:nvSpPr>
        <p:spPr bwMode="auto">
          <a:xfrm>
            <a:off x="10104120" y="4553712"/>
            <a:ext cx="1097280" cy="640080"/>
          </a:xfrm>
          <a:prstGeom prst="rect">
            <a:avLst/>
          </a:prstGeom>
          <a:solidFill>
            <a:srgbClr val="F7FAFC"/>
          </a:solidFill>
          <a:ln w="8890">
            <a:noFill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63500" tIns="38100" rIns="63500" bIns="381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Arial" panose="020B0604020202020204" pitchFamily="34" charset="0"/>
                <a:ea typeface="Microsoft YaHei" pitchFamily="2" charset="-122"/>
                <a:cs typeface="Arial"/>
              </a:rPr>
              <a:t>[team]</a:t>
            </a:r>
            <a:endParaRPr kumimoji="0" lang="zh-CN" altLang="en-US" sz="9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sp>
        <p:nvSpPr>
          <p:cNvPr id="34" name="risk-rule">
            <a:extLst>
              <a:ext uri="{FF2B5EF4-FFF2-40B4-BE49-F238E27FC236}">
                <a16:creationId xmlns:a16="http://schemas.microsoft.com/office/drawing/2014/main" id="{BDB810F7-B244-02C7-0555-C16E0F34CE55}"/>
              </a:ext>
            </a:extLst>
          </p:cNvPr>
          <p:cNvSpPr/>
          <p:nvPr/>
        </p:nvSpPr>
        <p:spPr bwMode="auto">
          <a:xfrm>
            <a:off x="685800" y="5422392"/>
            <a:ext cx="10515600" cy="585216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3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[Risk page rule: every risk must have a visible trigger, impact, action, and owner.]</a:t>
            </a:r>
            <a:endParaRPr kumimoji="0" lang="zh-CN" altLang="en-US" sz="9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060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21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milestone_roadmap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cxnSp>
        <p:nvCxnSpPr>
          <p:cNvPr id="2" name="roadmap-axis">
            <a:extLst>
              <a:ext uri="{FF2B5EF4-FFF2-40B4-BE49-F238E27FC236}">
                <a16:creationId xmlns:a16="http://schemas.microsoft.com/office/drawing/2014/main" id="{7FEE276C-03CF-0F00-D340-F13E64FB28D6}"/>
              </a:ext>
            </a:extLst>
          </p:cNvPr>
          <p:cNvCxnSpPr/>
          <p:nvPr/>
        </p:nvCxnSpPr>
        <p:spPr bwMode="auto">
          <a:xfrm>
            <a:off x="1623060" y="3401568"/>
            <a:ext cx="8942832" cy="9144"/>
          </a:xfrm>
          <a:prstGeom prst="line">
            <a:avLst/>
          </a:prstGeom>
          <a:ln w="27940">
            <a:solidFill>
              <a:srgbClr val="008A9A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roadmap-dot-0">
            <a:extLst>
              <a:ext uri="{FF2B5EF4-FFF2-40B4-BE49-F238E27FC236}">
                <a16:creationId xmlns:a16="http://schemas.microsoft.com/office/drawing/2014/main" id="{0B06DDAF-C107-57E1-1185-886838DB8888}"/>
              </a:ext>
            </a:extLst>
          </p:cNvPr>
          <p:cNvSpPr/>
          <p:nvPr/>
        </p:nvSpPr>
        <p:spPr bwMode="auto">
          <a:xfrm>
            <a:off x="1504188" y="3282696"/>
            <a:ext cx="237744" cy="23774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4" name="roadmap-card-0">
            <a:extLst>
              <a:ext uri="{FF2B5EF4-FFF2-40B4-BE49-F238E27FC236}">
                <a16:creationId xmlns:a16="http://schemas.microsoft.com/office/drawing/2014/main" id="{88F6524F-D4D4-4922-B28D-3B9DFF0F5F07}"/>
              </a:ext>
            </a:extLst>
          </p:cNvPr>
          <p:cNvSpPr/>
          <p:nvPr/>
        </p:nvSpPr>
        <p:spPr bwMode="auto">
          <a:xfrm>
            <a:off x="777239" y="1572768"/>
            <a:ext cx="1691640" cy="118872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M1
[Kickoff]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5" name="roadmap-link-0">
            <a:extLst>
              <a:ext uri="{FF2B5EF4-FFF2-40B4-BE49-F238E27FC236}">
                <a16:creationId xmlns:a16="http://schemas.microsoft.com/office/drawing/2014/main" id="{71F76E23-024A-02D7-3930-0DFAEC9E366A}"/>
              </a:ext>
            </a:extLst>
          </p:cNvPr>
          <p:cNvCxnSpPr/>
          <p:nvPr/>
        </p:nvCxnSpPr>
        <p:spPr bwMode="auto">
          <a:xfrm>
            <a:off x="1623059" y="2761488"/>
            <a:ext cx="1" cy="521208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oadmap-dot-1">
            <a:extLst>
              <a:ext uri="{FF2B5EF4-FFF2-40B4-BE49-F238E27FC236}">
                <a16:creationId xmlns:a16="http://schemas.microsoft.com/office/drawing/2014/main" id="{98AB8DF2-E69D-514E-950E-3E48229DBDB5}"/>
              </a:ext>
            </a:extLst>
          </p:cNvPr>
          <p:cNvSpPr/>
          <p:nvPr/>
        </p:nvSpPr>
        <p:spPr bwMode="auto">
          <a:xfrm>
            <a:off x="3292754" y="3282696"/>
            <a:ext cx="237744" cy="23774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9" name="roadmap-card-1">
            <a:extLst>
              <a:ext uri="{FF2B5EF4-FFF2-40B4-BE49-F238E27FC236}">
                <a16:creationId xmlns:a16="http://schemas.microsoft.com/office/drawing/2014/main" id="{6A4A1AC0-0976-3BB7-993F-6F829B7B56EA}"/>
              </a:ext>
            </a:extLst>
          </p:cNvPr>
          <p:cNvSpPr/>
          <p:nvPr/>
        </p:nvSpPr>
        <p:spPr bwMode="auto">
          <a:xfrm>
            <a:off x="2565806" y="3931920"/>
            <a:ext cx="1691640" cy="118872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M2
[Prototype]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0" name="roadmap-link-1">
            <a:extLst>
              <a:ext uri="{FF2B5EF4-FFF2-40B4-BE49-F238E27FC236}">
                <a16:creationId xmlns:a16="http://schemas.microsoft.com/office/drawing/2014/main" id="{F39139BD-C82C-634C-5B95-73A15A57CC81}"/>
              </a:ext>
            </a:extLst>
          </p:cNvPr>
          <p:cNvCxnSpPr/>
          <p:nvPr/>
        </p:nvCxnSpPr>
        <p:spPr bwMode="auto">
          <a:xfrm>
            <a:off x="3411626" y="3520440"/>
            <a:ext cx="1" cy="411480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oadmap-dot-2">
            <a:extLst>
              <a:ext uri="{FF2B5EF4-FFF2-40B4-BE49-F238E27FC236}">
                <a16:creationId xmlns:a16="http://schemas.microsoft.com/office/drawing/2014/main" id="{7926D88A-891F-3B41-5421-F259F47C5AF6}"/>
              </a:ext>
            </a:extLst>
          </p:cNvPr>
          <p:cNvSpPr/>
          <p:nvPr/>
        </p:nvSpPr>
        <p:spPr bwMode="auto">
          <a:xfrm>
            <a:off x="5081320" y="3282696"/>
            <a:ext cx="237744" cy="23774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2" name="roadmap-card-2">
            <a:extLst>
              <a:ext uri="{FF2B5EF4-FFF2-40B4-BE49-F238E27FC236}">
                <a16:creationId xmlns:a16="http://schemas.microsoft.com/office/drawing/2014/main" id="{912B9C20-EFAC-F271-7F89-F53164A1A261}"/>
              </a:ext>
            </a:extLst>
          </p:cNvPr>
          <p:cNvSpPr/>
          <p:nvPr/>
        </p:nvSpPr>
        <p:spPr bwMode="auto">
          <a:xfrm>
            <a:off x="4354372" y="1572768"/>
            <a:ext cx="1691640" cy="118872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M3
[Dataset]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3" name="roadmap-link-2">
            <a:extLst>
              <a:ext uri="{FF2B5EF4-FFF2-40B4-BE49-F238E27FC236}">
                <a16:creationId xmlns:a16="http://schemas.microsoft.com/office/drawing/2014/main" id="{1544BBFE-28BF-26F1-AFBE-3692DBF54824}"/>
              </a:ext>
            </a:extLst>
          </p:cNvPr>
          <p:cNvCxnSpPr/>
          <p:nvPr/>
        </p:nvCxnSpPr>
        <p:spPr bwMode="auto">
          <a:xfrm>
            <a:off x="5200192" y="2761488"/>
            <a:ext cx="1" cy="521208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roadmap-dot-3">
            <a:extLst>
              <a:ext uri="{FF2B5EF4-FFF2-40B4-BE49-F238E27FC236}">
                <a16:creationId xmlns:a16="http://schemas.microsoft.com/office/drawing/2014/main" id="{690130FF-ED7C-28FE-AA3B-3C48347CBCEA}"/>
              </a:ext>
            </a:extLst>
          </p:cNvPr>
          <p:cNvSpPr/>
          <p:nvPr/>
        </p:nvSpPr>
        <p:spPr bwMode="auto">
          <a:xfrm>
            <a:off x="6869887" y="3282696"/>
            <a:ext cx="237744" cy="23774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5" name="roadmap-card-3">
            <a:extLst>
              <a:ext uri="{FF2B5EF4-FFF2-40B4-BE49-F238E27FC236}">
                <a16:creationId xmlns:a16="http://schemas.microsoft.com/office/drawing/2014/main" id="{DC97C3A0-3835-319D-788F-9F8AB4795B07}"/>
              </a:ext>
            </a:extLst>
          </p:cNvPr>
          <p:cNvSpPr/>
          <p:nvPr/>
        </p:nvSpPr>
        <p:spPr bwMode="auto">
          <a:xfrm>
            <a:off x="6142939" y="3931920"/>
            <a:ext cx="1691640" cy="118872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M4
[Evaluation]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6" name="roadmap-link-3">
            <a:extLst>
              <a:ext uri="{FF2B5EF4-FFF2-40B4-BE49-F238E27FC236}">
                <a16:creationId xmlns:a16="http://schemas.microsoft.com/office/drawing/2014/main" id="{7164CDD5-35D9-C7C2-EA8B-99BC0E9EAA67}"/>
              </a:ext>
            </a:extLst>
          </p:cNvPr>
          <p:cNvCxnSpPr/>
          <p:nvPr/>
        </p:nvCxnSpPr>
        <p:spPr bwMode="auto">
          <a:xfrm>
            <a:off x="6988759" y="3520440"/>
            <a:ext cx="1" cy="411480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oadmap-dot-4">
            <a:extLst>
              <a:ext uri="{FF2B5EF4-FFF2-40B4-BE49-F238E27FC236}">
                <a16:creationId xmlns:a16="http://schemas.microsoft.com/office/drawing/2014/main" id="{EE429E2A-6E16-67A0-3C6A-E1B8D383AB69}"/>
              </a:ext>
            </a:extLst>
          </p:cNvPr>
          <p:cNvSpPr/>
          <p:nvPr/>
        </p:nvSpPr>
        <p:spPr bwMode="auto">
          <a:xfrm>
            <a:off x="8658453" y="3282696"/>
            <a:ext cx="237744" cy="23774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18" name="roadmap-card-4">
            <a:extLst>
              <a:ext uri="{FF2B5EF4-FFF2-40B4-BE49-F238E27FC236}">
                <a16:creationId xmlns:a16="http://schemas.microsoft.com/office/drawing/2014/main" id="{4D71FA63-ED27-44A4-8E40-4E6DDA9238F6}"/>
              </a:ext>
            </a:extLst>
          </p:cNvPr>
          <p:cNvSpPr/>
          <p:nvPr/>
        </p:nvSpPr>
        <p:spPr bwMode="auto">
          <a:xfrm>
            <a:off x="7931505" y="1572768"/>
            <a:ext cx="1691640" cy="118872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M5
[Demo]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19" name="roadmap-link-4">
            <a:extLst>
              <a:ext uri="{FF2B5EF4-FFF2-40B4-BE49-F238E27FC236}">
                <a16:creationId xmlns:a16="http://schemas.microsoft.com/office/drawing/2014/main" id="{D510C581-140F-A825-B3B9-DA4029337386}"/>
              </a:ext>
            </a:extLst>
          </p:cNvPr>
          <p:cNvCxnSpPr/>
          <p:nvPr/>
        </p:nvCxnSpPr>
        <p:spPr bwMode="auto">
          <a:xfrm>
            <a:off x="8777325" y="2761488"/>
            <a:ext cx="1" cy="521208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roadmap-dot-5">
            <a:extLst>
              <a:ext uri="{FF2B5EF4-FFF2-40B4-BE49-F238E27FC236}">
                <a16:creationId xmlns:a16="http://schemas.microsoft.com/office/drawing/2014/main" id="{3AB04A81-1127-0468-4A07-3D5CF9D18F50}"/>
              </a:ext>
            </a:extLst>
          </p:cNvPr>
          <p:cNvSpPr/>
          <p:nvPr/>
        </p:nvSpPr>
        <p:spPr bwMode="auto">
          <a:xfrm>
            <a:off x="10447019" y="3282696"/>
            <a:ext cx="237744" cy="237744"/>
          </a:xfrm>
          <a:prstGeom prst="ellipse">
            <a:avLst/>
          </a:prstGeom>
          <a:solidFill>
            <a:srgbClr val="2563EB"/>
          </a:solidFill>
          <a:ln w="1270">
            <a:solidFill>
              <a:srgbClr val="2563EB"/>
            </a:solidFill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1" name="roadmap-card-5">
            <a:extLst>
              <a:ext uri="{FF2B5EF4-FFF2-40B4-BE49-F238E27FC236}">
                <a16:creationId xmlns:a16="http://schemas.microsoft.com/office/drawing/2014/main" id="{2CABDBE5-0979-A9C5-7719-45DD2C64FA54}"/>
              </a:ext>
            </a:extLst>
          </p:cNvPr>
          <p:cNvSpPr/>
          <p:nvPr/>
        </p:nvSpPr>
        <p:spPr bwMode="auto">
          <a:xfrm>
            <a:off x="9720072" y="3931920"/>
            <a:ext cx="1691640" cy="1188720"/>
          </a:xfrm>
          <a:prstGeom prst="roundRect">
            <a:avLst/>
          </a:prstGeom>
          <a:solidFill>
            <a:srgbClr val="F5F9FB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500" b="1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M6
[Delivery]</a:t>
            </a:r>
            <a:endParaRPr kumimoji="0" lang="zh-CN" altLang="en-US" sz="1000" b="1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22" name="roadmap-link-5">
            <a:extLst>
              <a:ext uri="{FF2B5EF4-FFF2-40B4-BE49-F238E27FC236}">
                <a16:creationId xmlns:a16="http://schemas.microsoft.com/office/drawing/2014/main" id="{9CECF662-4009-F7E7-C0AB-354BF2F06994}"/>
              </a:ext>
            </a:extLst>
          </p:cNvPr>
          <p:cNvCxnSpPr/>
          <p:nvPr/>
        </p:nvCxnSpPr>
        <p:spPr bwMode="auto">
          <a:xfrm>
            <a:off x="10565891" y="3520440"/>
            <a:ext cx="1" cy="411480"/>
          </a:xfrm>
          <a:prstGeom prst="line">
            <a:avLst/>
          </a:prstGeom>
          <a:ln w="12700">
            <a:solidFill>
              <a:srgbClr val="8FB0C3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roadmap-note">
            <a:extLst>
              <a:ext uri="{FF2B5EF4-FFF2-40B4-BE49-F238E27FC236}">
                <a16:creationId xmlns:a16="http://schemas.microsoft.com/office/drawing/2014/main" id="{7BED1FE0-8941-04FD-8382-0F86364FBEDC}"/>
              </a:ext>
            </a:extLst>
          </p:cNvPr>
          <p:cNvSpPr/>
          <p:nvPr/>
        </p:nvSpPr>
        <p:spPr bwMode="auto">
          <a:xfrm>
            <a:off x="777240" y="5468112"/>
            <a:ext cx="10634472" cy="557784"/>
          </a:xfrm>
          <a:prstGeom prst="roundRect">
            <a:avLst/>
          </a:prstGeom>
          <a:solidFill>
            <a:srgbClr val="FFFDF3"/>
          </a:solidFill>
          <a:ln w="7620">
            <a:solidFill>
              <a:srgbClr val="CDD7E1"/>
            </a:solidFill>
            <a:prstDash val="solid"/>
          </a:ln>
        </p:spPr>
        <p:txBody>
          <a:bodyPr vert="horz" wrap="square" lIns="128016" tIns="91440" rIns="128016" bIns="9144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i="0" u="none" strike="noStrike" cap="none" normalizeH="0" baseline="0">
                <a:ln>
                  <a:noFill/>
                </a:ln>
                <a:solidFill>
                  <a:srgbClr val="16324A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[timeline assumptions / dependency / review cadence]</a:t>
            </a:r>
            <a:endParaRPr kumimoji="0" lang="zh-CN" altLang="en-US" sz="1000" i="0" u="none" strike="noStrike" cap="none" normalizeH="0" baseline="0">
              <a:ln>
                <a:noFill/>
              </a:ln>
              <a:solidFill>
                <a:srgbClr val="16324A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6582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pl-title-22">
            <a:extLst>
              <a:ext uri="{FF2B5EF4-FFF2-40B4-BE49-F238E27FC236}">
                <a16:creationId xmlns:a16="http://schemas.microsoft.com/office/drawing/2014/main" id="{8AD1D178-C0C7-1DB9-3147-C7106197E6A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altLang="zh-CN" sz="2800">
                <a:solidFill>
                  <a:srgbClr val="006A9E"/>
                </a:solidFill>
                <a:latin typeface="Comic Sans MS" panose="020B0604020202020204" pitchFamily="34" charset="0"/>
                <a:ea typeface="Microsoft YaHei"/>
                <a:cs typeface="Comic Sans MS"/>
              </a:rPr>
              <a:t>media_showcase</a:t>
            </a:r>
            <a:endParaRPr lang="zh-CN" altLang="en-US" sz="2000" dirty="0">
              <a:solidFill>
                <a:srgbClr val="006A9E"/>
              </a:solidFill>
              <a:latin typeface="Arial" panose="020B0604020202020204" pitchFamily="34" charset="0"/>
            </a:endParaRPr>
          </a:p>
        </p:txBody>
      </p:sp>
      <p:sp>
        <p:nvSpPr>
          <p:cNvPr id="2" name="media-showcase-main">
            <a:extLst>
              <a:ext uri="{FF2B5EF4-FFF2-40B4-BE49-F238E27FC236}">
                <a16:creationId xmlns:a16="http://schemas.microsoft.com/office/drawing/2014/main" id="{9DFC77BF-CC9F-3372-3842-F8EFDC21D102}"/>
              </a:ext>
            </a:extLst>
          </p:cNvPr>
          <p:cNvSpPr/>
          <p:nvPr/>
        </p:nvSpPr>
        <p:spPr bwMode="auto">
          <a:xfrm>
            <a:off x="548640" y="1143000"/>
            <a:ext cx="11091672" cy="4983480"/>
          </a:xfrm>
          <a:prstGeom prst="rect">
            <a:avLst/>
          </a:prstGeom>
          <a:solidFill>
            <a:srgbClr val="FAFCFD"/>
          </a:solidFill>
          <a:ln w="13970">
            <a:solidFill>
              <a:srgbClr val="8FB0C3"/>
            </a:solidFill>
            <a:prstDash val="dash"/>
          </a:ln>
          <a:effectLst>
            <a:outerShdw dist="3592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101600" tIns="76200" rIns="101600" bIns="76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rgbClr val="5D7182"/>
                </a:solidFill>
                <a:effectLst/>
                <a:latin typeface="Comic Sans MS" panose="020B0604020202020204" pitchFamily="34" charset="0"/>
                <a:ea typeface="Microsoft YaHei" pitchFamily="2" charset="-122"/>
                <a:cs typeface="Comic Sans MS"/>
              </a:rPr>
              <a:t>[IMAGE / VIDEO / DEMO PLACEHOLDER]</a:t>
            </a:r>
            <a:endParaRPr kumimoji="0" lang="zh-CN" altLang="en-US" sz="1200" b="1" i="0" u="none" strike="noStrike" cap="none" normalizeH="0" baseline="0">
              <a:ln>
                <a:noFill/>
              </a:ln>
              <a:solidFill>
                <a:srgbClr val="5D7182"/>
              </a:solidFill>
              <a:effectLst/>
              <a:latin typeface="Arial" panose="020B0604020202020204" pitchFamily="34" charset="0"/>
              <a:ea typeface="华文细黑" pitchFamily="2" charset="-122"/>
            </a:endParaRPr>
          </a:p>
        </p:txBody>
      </p:sp>
      <p:cxnSp>
        <p:nvCxnSpPr>
          <p:cNvPr id="3" name="media-showcase-main-cross-a">
            <a:extLst>
              <a:ext uri="{FF2B5EF4-FFF2-40B4-BE49-F238E27FC236}">
                <a16:creationId xmlns:a16="http://schemas.microsoft.com/office/drawing/2014/main" id="{CD310631-1634-94CC-372E-B714CED7FCD6}"/>
              </a:ext>
            </a:extLst>
          </p:cNvPr>
          <p:cNvCxnSpPr/>
          <p:nvPr/>
        </p:nvCxnSpPr>
        <p:spPr bwMode="auto">
          <a:xfrm>
            <a:off x="667512" y="1261872"/>
            <a:ext cx="10853928" cy="4745736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media-showcase-main-cross-b">
            <a:extLst>
              <a:ext uri="{FF2B5EF4-FFF2-40B4-BE49-F238E27FC236}">
                <a16:creationId xmlns:a16="http://schemas.microsoft.com/office/drawing/2014/main" id="{3879EAF0-1E99-7220-BDAD-91ADACD51F3A}"/>
              </a:ext>
            </a:extLst>
          </p:cNvPr>
          <p:cNvCxnSpPr/>
          <p:nvPr/>
        </p:nvCxnSpPr>
        <p:spPr bwMode="auto">
          <a:xfrm flipH="1">
            <a:off x="667512" y="1261872"/>
            <a:ext cx="10853928" cy="4745736"/>
          </a:xfrm>
          <a:prstGeom prst="line">
            <a:avLst/>
          </a:prstGeom>
          <a:ln w="10160">
            <a:solidFill>
              <a:srgbClr val="BFD0DA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718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自定义 2">
      <a:dk1>
        <a:sysClr val="windowText" lastClr="000000"/>
      </a:dk1>
      <a:lt1>
        <a:sysClr val="window" lastClr="FFFFFF"/>
      </a:lt1>
      <a:dk2>
        <a:srgbClr val="333399"/>
      </a:dk2>
      <a:lt2>
        <a:srgbClr val="B4DCFA"/>
      </a:lt2>
      <a:accent1>
        <a:srgbClr val="4E67C8"/>
      </a:accent1>
      <a:accent2>
        <a:srgbClr val="5ECCF3"/>
      </a:accent2>
      <a:accent3>
        <a:srgbClr val="FFFF66"/>
      </a:accent3>
      <a:accent4>
        <a:srgbClr val="00B050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自定义 1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chemeClr val="accent6"/>
          </a:solidFill>
        </a:ln>
        <a:effectLst>
          <a:outerShdw dist="35921" dir="2700000" algn="ctr" rotWithShape="0">
            <a:srgbClr val="B2B2B2">
              <a:alpha val="50000"/>
            </a:srgbClr>
          </a:outerShdw>
        </a:effectLst>
      </a:spPr>
      <a:bodyPr vert="horz" wrap="square" lIns="91440" tIns="45720" rIns="91440" bIns="45720" numCol="1" rtlCol="0" anchor="b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华文细黑" pitchFamily="2" charset="-122"/>
            <a:ea typeface="华文细黑" pitchFamily="2" charset="-122"/>
          </a:defRPr>
        </a:defPPr>
      </a:lstStyle>
    </a:spDef>
    <a:lnDef>
      <a:spPr bwMode="auto">
        <a:ln w="19050">
          <a:headEnd type="none" w="med" len="med"/>
          <a:tailEnd type="none" w="med" len="med"/>
        </a:ln>
      </a:spPr>
      <a:bodyPr/>
      <a:lstStyle/>
      <a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b="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1647</Words>
  <Application>Microsoft Office PowerPoint</Application>
  <PresentationFormat>宽屏</PresentationFormat>
  <Paragraphs>381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等线</vt:lpstr>
      <vt:lpstr>等线 Light</vt:lpstr>
      <vt:lpstr>华文细黑</vt:lpstr>
      <vt:lpstr>华文中宋</vt:lpstr>
      <vt:lpstr>微软雅黑</vt:lpstr>
      <vt:lpstr>Arial</vt:lpstr>
      <vt:lpstr>Comic Sans MS</vt:lpstr>
      <vt:lpstr>Wingdings</vt:lpstr>
      <vt:lpstr>Office 主题​​</vt:lpstr>
      <vt:lpstr>默认设计模板</vt:lpstr>
      <vt:lpstr>PowerPoint 演示文稿</vt:lpstr>
      <vt:lpstr>basic_content</vt:lpstr>
      <vt:lpstr>motivation_compare</vt:lpstr>
      <vt:lpstr>challenge_map</vt:lpstr>
      <vt:lpstr>method_pipeline</vt:lpstr>
      <vt:lpstr>method_loop</vt:lpstr>
      <vt:lpstr>benchmark_metrics</vt:lpstr>
      <vt:lpstr>result_big_numbers</vt:lpstr>
      <vt:lpstr>results_bars</vt:lpstr>
      <vt:lpstr>leaderboard_table</vt:lpstr>
      <vt:lpstr>ablation_matrix</vt:lpstr>
      <vt:lpstr>evidence_grid</vt:lpstr>
      <vt:lpstr>case_gallery</vt:lpstr>
      <vt:lpstr>summary_takeaways</vt:lpstr>
      <vt:lpstr>project_target_map</vt:lpstr>
      <vt:lpstr>domain_object_map</vt:lpstr>
      <vt:lpstr>technical_route</vt:lpstr>
      <vt:lpstr>workpackage_matrix</vt:lpstr>
      <vt:lpstr>evaluation_dashboard</vt:lpstr>
      <vt:lpstr>risk_action_table</vt:lpstr>
      <vt:lpstr>milestone_roadmap</vt:lpstr>
      <vt:lpstr>media_showcase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数据分析组工作  许 勇   计算机科学与工程学院 华南理工大学   2021.08</dc:title>
  <dc:creator>旻昆 赵</dc:creator>
  <cp:lastModifiedBy>Koail Liu</cp:lastModifiedBy>
  <cp:revision>202</cp:revision>
  <dcterms:created xsi:type="dcterms:W3CDTF">2025-11-17T07:30:14Z</dcterms:created>
  <dcterms:modified xsi:type="dcterms:W3CDTF">2026-07-13T09:37:42Z</dcterms:modified>
</cp:coreProperties>
</file>